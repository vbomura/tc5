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6858000" cx="12192000"/>
  <p:notesSz cx="6858000" cy="9144000"/>
  <p:embeddedFontLst>
    <p:embeddedFont>
      <p:font typeface="Play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ieYu5CFzZr5QnFLE0pYodpdhhY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ay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Play-regular.fnt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" name="Google Shape;9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0" name="Google Shape;110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3" name="Google Shape;12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36" name="Google Shape;13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50" name="Google Shape;15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64" name="Google Shape;16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78" name="Google Shape;1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92" name="Google Shape;192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06" name="Google Shape;206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9" name="Google Shape;21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0" name="Google Shape;22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34" name="Google Shape;23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pt-BR">
                <a:latin typeface="Arial"/>
                <a:ea typeface="Arial"/>
                <a:cs typeface="Arial"/>
                <a:sym typeface="Arial"/>
              </a:rPr>
              <a:t>Pergunta 10 - Efetividade do programa: Os indicadores mostram melhora consistente ao longo do ciclo nas diferentes fases (Quartzo, Ágata, Ametista e Topázio), confirmando o impacto real do programa?</a:t>
            </a:r>
            <a:endParaRPr/>
          </a:p>
        </p:txBody>
      </p:sp>
      <p:sp>
        <p:nvSpPr>
          <p:cNvPr id="248" name="Google Shape;24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3" name="Google Shape;26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4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6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7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17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essoas sentadas ao redor de uma mesa&#10;&#10;O conteúdo gerado por IA pode estar incorreto." id="88" name="Google Shape;88;p1"/>
          <p:cNvPicPr preferRelativeResize="0"/>
          <p:nvPr/>
        </p:nvPicPr>
        <p:blipFill rotWithShape="1">
          <a:blip r:embed="rId3">
            <a:alphaModFix amt="5000"/>
          </a:blip>
          <a:srcRect b="0" l="0" r="0" t="0"/>
          <a:stretch/>
        </p:blipFill>
        <p:spPr>
          <a:xfrm>
            <a:off x="-674914" y="-239486"/>
            <a:ext cx="12866914" cy="857794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essoas sentadas ao redor de uma mesa&#10;&#10;O conteúdo gerado por IA pode estar incorreto." id="89" name="Google Shape;89;p1"/>
          <p:cNvPicPr preferRelativeResize="0"/>
          <p:nvPr/>
        </p:nvPicPr>
        <p:blipFill rotWithShape="1">
          <a:blip r:embed="rId4">
            <a:alphaModFix amt="35000"/>
          </a:blip>
          <a:srcRect b="0" l="0" r="0" t="0"/>
          <a:stretch/>
        </p:blipFill>
        <p:spPr>
          <a:xfrm>
            <a:off x="-674914" y="-239486"/>
            <a:ext cx="12866914" cy="857794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/>
          <p:nvPr/>
        </p:nvSpPr>
        <p:spPr>
          <a:xfrm>
            <a:off x="-674914" y="-239486"/>
            <a:ext cx="12866914" cy="8577942"/>
          </a:xfrm>
          <a:prstGeom prst="rect">
            <a:avLst/>
          </a:prstGeom>
          <a:solidFill>
            <a:srgbClr val="000000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27760" y="272716"/>
            <a:ext cx="12192001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800"/>
              <a:buFont typeface="Arial"/>
              <a:buNone/>
            </a:pPr>
            <a:r>
              <a:rPr b="1" i="0" lang="pt-BR" sz="13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DATATHON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pt-BR" sz="54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TECH CHALLENGE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800"/>
              <a:buFont typeface="Arial"/>
              <a:buNone/>
            </a:pPr>
            <a:r>
              <a:t/>
            </a:r>
            <a:endParaRPr b="1" i="0" sz="13800" u="none" cap="none" strike="noStrike">
              <a:solidFill>
                <a:srgbClr val="F2F2F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27000" y="6323674"/>
            <a:ext cx="3320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"/>
          <p:cNvSpPr/>
          <p:nvPr/>
        </p:nvSpPr>
        <p:spPr>
          <a:xfrm>
            <a:off x="408775" y="2782100"/>
            <a:ext cx="11469600" cy="20439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1117050" y="1653550"/>
            <a:ext cx="9957900" cy="438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pt-BR">
                <a:solidFill>
                  <a:schemeClr val="dk1"/>
                </a:solidFill>
              </a:rPr>
              <a:t>Este trabalho analisa indicadores educacionais, comportamentais e psicossociais coletados entre 2022 e 2024 para identificar padrões de desempenho, níveis de defasagem e fatores que influenciam a trajetória dos estudantes ao longo do programa.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pt-BR">
                <a:solidFill>
                  <a:schemeClr val="dk1"/>
                </a:solidFill>
              </a:rPr>
              <a:t>Além da análise exploratória, o estudo utiliza correlações estatísticas e técnicas de Machine Learning para construir um modelo preditivo capaz de antecipar riscos acadêmicos. O objetivo é transformar dados em insights acionáveis, apoiando decisões mais assertivas e fortalecendo a efetividade do programa educacional.</a:t>
            </a:r>
            <a:endParaRPr b="1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/>
          </a:p>
        </p:txBody>
      </p:sp>
      <p:pic>
        <p:nvPicPr>
          <p:cNvPr id="100" name="Google Shape;100;p3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" name="Google Shape;101;p3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02" name="Google Shape;102;p3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03" name="Google Shape;103;p3"/>
            <p:cNvCxnSpPr>
              <a:endCxn id="102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04" name="Google Shape;104;p3"/>
          <p:cNvSpPr/>
          <p:nvPr/>
        </p:nvSpPr>
        <p:spPr>
          <a:xfrm>
            <a:off x="6256025" y="320050"/>
            <a:ext cx="7391400" cy="1333500"/>
          </a:xfrm>
          <a:prstGeom prst="roundRect">
            <a:avLst>
              <a:gd fmla="val 16667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3700">
                <a:solidFill>
                  <a:schemeClr val="lt1"/>
                </a:solidFill>
              </a:rPr>
              <a:t>INTRODUÇÃO</a:t>
            </a:r>
            <a:endParaRPr b="1" sz="3700">
              <a:solidFill>
                <a:schemeClr val="lt1"/>
              </a:solidFill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-640075" y="-327650"/>
            <a:ext cx="2209800" cy="1676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"/>
          <p:cNvSpPr/>
          <p:nvPr/>
        </p:nvSpPr>
        <p:spPr>
          <a:xfrm>
            <a:off x="502925" y="148600"/>
            <a:ext cx="2209800" cy="1676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8"/>
          <p:cNvSpPr/>
          <p:nvPr/>
        </p:nvSpPr>
        <p:spPr>
          <a:xfrm>
            <a:off x="169650" y="4143150"/>
            <a:ext cx="11661300" cy="20439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28"/>
          <p:cNvSpPr/>
          <p:nvPr/>
        </p:nvSpPr>
        <p:spPr>
          <a:xfrm>
            <a:off x="461639" y="4391829"/>
            <a:ext cx="10639409" cy="15465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Perfil de Defasagem (IAN) por Sexo e Evolução</a:t>
            </a:r>
            <a:endParaRPr b="1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t/>
            </a:r>
            <a:endParaRPr b="1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66675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Redução da Defasagem Crítica: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Há uma queda consistente nos níveis de defasagem mais graves (-3 e -2) em ambos os gêneros entre 2022 e 2023. Isso indica que a estratégia pedagógica está sendo eficaz em "puxar" os alunos que estavam mais atrasados para níveis mais próximos do ideal.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66675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Crescimento na "Normalização" (Defasagem 0):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Crescimento contínuo de alunos no nível ideal (Defasagem 0). O grupo </a:t>
            </a: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Feminino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lidera com alta de </a:t>
            </a: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81,95%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nessa categoria. 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66675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 grupo </a:t>
            </a: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também cresceu de forma constante, passando de 114 para 149 alunos no nível 0 no mesmo período.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66675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Alerta em 2024: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Conforme sua observação, embora o histórico seja positivo, o aumento da defasagem em 2024 (especialmente no público masculino) sugere a entrada de novos alunos com maior defasagem ou um novo desafio de adaptação curricular que precisa de atenção.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8"/>
          <p:cNvSpPr/>
          <p:nvPr/>
        </p:nvSpPr>
        <p:spPr>
          <a:xfrm>
            <a:off x="169658" y="246676"/>
            <a:ext cx="4846723" cy="7386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Adequação do nível (IAN): Qual é o perfil geral de defasagem dos alunos (IAN) e como ele evolui ao longo do ano?</a:t>
            </a:r>
            <a:endParaRPr/>
          </a:p>
        </p:txBody>
      </p:sp>
      <p:pic>
        <p:nvPicPr>
          <p:cNvPr id="115" name="Google Shape;115;p28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6" name="Google Shape;116;p28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17" name="Google Shape;117;p28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8" name="Google Shape;118;p28"/>
            <p:cNvCxnSpPr>
              <a:endCxn id="117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id="119" name="Google Shape;119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3725" y="1044399"/>
            <a:ext cx="8849424" cy="310172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8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"/>
          <p:cNvSpPr/>
          <p:nvPr/>
        </p:nvSpPr>
        <p:spPr>
          <a:xfrm>
            <a:off x="6561475" y="1323125"/>
            <a:ext cx="5559300" cy="36720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"/>
          <p:cNvSpPr/>
          <p:nvPr/>
        </p:nvSpPr>
        <p:spPr>
          <a:xfrm>
            <a:off x="7244179" y="1758730"/>
            <a:ext cx="4669800" cy="280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Análise de Defasagem por Fase (Cenário 2024)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Concentração em Fases Iniciais: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Os dados de 2024 mostram que a defasagem negativa (abaixo de zero) é muito mais acentuada nas fases </a:t>
            </a: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ALFA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 </a:t>
            </a: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FASE 1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Isso confirma que o "gargalo" educacional ocorre logo no ingresso ou nas etapas de alfabetização.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Inversão Positiva em Fases Intermediárias: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partir da </a:t>
            </a: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FASE 2 e FASE 3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vemos uma inversão interessante: o número de alunos com defasagem positiva (acima de zero) supera os negativos.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1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Exemplo na FASE 3: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156 alunos estão acima do nível esperado contra apenas 55 abaixo. Isso sugere que, uma vez que o aluno supera as fases iniciais, ele tende a acelerar seu desempenho.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" name="Google Shape;127;p4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8" name="Google Shape;128;p4"/>
          <p:cNvGrpSpPr/>
          <p:nvPr/>
        </p:nvGrpSpPr>
        <p:grpSpPr>
          <a:xfrm rot="10800000">
            <a:off x="7937522" y="6543780"/>
            <a:ext cx="3116700" cy="165000"/>
            <a:chOff x="-1015999" y="317351"/>
            <a:chExt cx="3116700" cy="165000"/>
          </a:xfrm>
        </p:grpSpPr>
        <p:sp>
          <p:nvSpPr>
            <p:cNvPr id="129" name="Google Shape;129;p4"/>
            <p:cNvSpPr/>
            <p:nvPr/>
          </p:nvSpPr>
          <p:spPr>
            <a:xfrm>
              <a:off x="1727201" y="317351"/>
              <a:ext cx="373500" cy="165000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30" name="Google Shape;130;p4"/>
            <p:cNvCxnSpPr>
              <a:endCxn id="129" idx="1"/>
            </p:cNvCxnSpPr>
            <p:nvPr/>
          </p:nvCxnSpPr>
          <p:spPr>
            <a:xfrm>
              <a:off x="-1015999" y="399851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id="131" name="Google Shape;131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0625" y="273176"/>
            <a:ext cx="6070847" cy="6070847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"/>
          <p:cNvSpPr/>
          <p:nvPr/>
        </p:nvSpPr>
        <p:spPr>
          <a:xfrm>
            <a:off x="7419000" y="1338613"/>
            <a:ext cx="4794900" cy="36720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5"/>
          <p:cNvSpPr/>
          <p:nvPr/>
        </p:nvSpPr>
        <p:spPr>
          <a:xfrm>
            <a:off x="7481551" y="2091016"/>
            <a:ext cx="4669800" cy="21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Destaques do Projeto (2022-2024)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Ingresso e Nivelamento: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Foco na correção das bases (ALFA) para reverter o histórico de atraso escolar severo.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Maturação: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Progressão acelerada com marcos de sucesso atingindo o ápice nas fases intermediárias.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Excelência Sustentada: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Evolução contínua do desempenho (IDA) ao longo dos anos, garantindo que o aluno chegue às fases finais com maturidade e notas sólidas.</a:t>
            </a:r>
            <a:endParaRPr/>
          </a:p>
        </p:txBody>
      </p:sp>
      <p:pic>
        <p:nvPicPr>
          <p:cNvPr descr="Gráfico, Gráfico de mapa de árvore&#10;&#10;O conteúdo gerado por IA pode estar incorreto." id="140" name="Google Shape;14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951" y="1495229"/>
            <a:ext cx="7071120" cy="335878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5"/>
          <p:cNvSpPr/>
          <p:nvPr/>
        </p:nvSpPr>
        <p:spPr>
          <a:xfrm>
            <a:off x="60139" y="162293"/>
            <a:ext cx="6468847" cy="461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Desempenho acadêmico (IDA): O desempenho acadêmico médio (IDA) está melhorando, estagnado ou caindo ao longo das fases e anos?</a:t>
            </a:r>
            <a:endParaRPr/>
          </a:p>
        </p:txBody>
      </p:sp>
      <p:pic>
        <p:nvPicPr>
          <p:cNvPr id="142" name="Google Shape;142;p5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3" name="Google Shape;143;p5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44" name="Google Shape;144;p5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45" name="Google Shape;145;p5"/>
            <p:cNvCxnSpPr>
              <a:endCxn id="144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6" name="Google Shape;146;p5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"/>
          <p:cNvSpPr/>
          <p:nvPr/>
        </p:nvSpPr>
        <p:spPr>
          <a:xfrm>
            <a:off x="6030725" y="1779825"/>
            <a:ext cx="4794900" cy="30753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6155831" y="2112235"/>
            <a:ext cx="4669800" cy="21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Conexão Direta: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engajamento (IEG) não é um dado isolado; ele impulsiona diretamente as notas (IDA) e o amadurecimento (IPV).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Zona de Excelência: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Os resultados de elite concentram-se em alunos com IEG acima de 7,5. Abaixo disso, o desempenho acadêmico cai drasticamente.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"Pulo do Gato":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Alunos altamente engajados apresentam um desempenho 93% superior aos menos participativos, provando que o esforço precede o resultado.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71879" y="154097"/>
            <a:ext cx="4669654" cy="646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Engajamento nas atividades (IEG): O grau de engajamento dos alunos (IEG) tem relação direta com seus indicadores de desempenho (IDA) e do ponto de virada (IPV)?</a:t>
            </a:r>
            <a:endParaRPr/>
          </a:p>
        </p:txBody>
      </p:sp>
      <p:pic>
        <p:nvPicPr>
          <p:cNvPr id="155" name="Google Shape;155;p6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6" name="Google Shape;156;p6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57" name="Google Shape;157;p6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58" name="Google Shape;158;p6"/>
            <p:cNvCxnSpPr>
              <a:endCxn id="157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id="159" name="Google Shape;159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952787"/>
            <a:ext cx="5199356" cy="4784224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6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"/>
          <p:cNvSpPr/>
          <p:nvPr/>
        </p:nvSpPr>
        <p:spPr>
          <a:xfrm>
            <a:off x="4523025" y="1325150"/>
            <a:ext cx="5742300" cy="39654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7"/>
          <p:cNvSpPr txBox="1"/>
          <p:nvPr/>
        </p:nvSpPr>
        <p:spPr>
          <a:xfrm>
            <a:off x="4700568" y="1703144"/>
            <a:ext cx="5436300" cy="32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Engajamento (IEG) vs. Desempenho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Relação Direta:</a:t>
            </a:r>
            <a:r>
              <a:rPr b="0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Maior engajamento reflete-se em melhores notas (IDA) e maior maturidade (IPV).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Zona de Excelência:</a:t>
            </a:r>
            <a:r>
              <a:rPr b="0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Resultados de elite (IDA e IPV) concentram-se em alunos com IEG acima de 7.5.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Fator Chave:</a:t>
            </a:r>
            <a:r>
              <a:rPr b="0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Com correlação de ~0.55, o engajamento é o principal pilar para a consistência académica.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Multifatorial:</a:t>
            </a:r>
            <a:r>
              <a:rPr b="0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É a base do sucesso, embora o desempenho final dependa também de outros fatores.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8" name="Google Shape;168;p7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9" name="Google Shape;169;p7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70" name="Google Shape;170;p7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71" name="Google Shape;171;p7"/>
            <p:cNvCxnSpPr>
              <a:endCxn id="170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72" name="Google Shape;172;p7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  <p:pic>
        <p:nvPicPr>
          <p:cNvPr id="173" name="Google Shape;173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634852"/>
            <a:ext cx="4089476" cy="27246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3511950"/>
            <a:ext cx="4146501" cy="247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"/>
          <p:cNvSpPr/>
          <p:nvPr/>
        </p:nvSpPr>
        <p:spPr>
          <a:xfrm>
            <a:off x="7071211" y="1593002"/>
            <a:ext cx="4794900" cy="42753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1" name="Google Shape;18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9595" y="1805663"/>
            <a:ext cx="6633265" cy="3849414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8"/>
          <p:cNvSpPr txBox="1"/>
          <p:nvPr/>
        </p:nvSpPr>
        <p:spPr>
          <a:xfrm>
            <a:off x="7347435" y="1772826"/>
            <a:ext cx="4122515" cy="3970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Autoavaliação (IAA) vs. Realidade Acadêmica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Dificuldade em se avaliar: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 aluno tem dificuldade em perceber seu real desempenho. A nota que ele dá para si mesmo quase não combina com a nota que ele tira de verdade.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Sentimento vs. Esforço: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Estar animado ou se avaliar bem não significa que o aluno está participando mais das aulas. Muitos dos que se dão notas altas não são os que mais se dedicam na prática.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Otimismo exagerado: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Mesmo quem tira notas baixas costuma se avaliar de forma positiva. No fim das contas, a nota que o aluno dá para si mesmo é parecida, esteja ele indo bem ou mal nos estudos.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Conclusão: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autoavaliação hoje mostra mais a confiança emocional do aluno do que o seu aprendizado real. Precisamos ensinar o aluno a entender melhor seus próprios pontos fortes e fracos.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128187" y="147700"/>
            <a:ext cx="4122515" cy="6462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Autoavaliação (IAA): As percepções dos alunos sobre si mesmos (IAA) são coerentes com seu desempenho real (IDA) e engajamento (IEG)?</a:t>
            </a:r>
            <a:endParaRPr/>
          </a:p>
        </p:txBody>
      </p:sp>
      <p:pic>
        <p:nvPicPr>
          <p:cNvPr id="184" name="Google Shape;184;p8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5" name="Google Shape;185;p8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86" name="Google Shape;186;p8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87" name="Google Shape;187;p8"/>
            <p:cNvCxnSpPr>
              <a:endCxn id="186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8" name="Google Shape;188;p8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/>
          <p:nvPr/>
        </p:nvSpPr>
        <p:spPr>
          <a:xfrm>
            <a:off x="7108375" y="1229775"/>
            <a:ext cx="4436100" cy="48516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29"/>
          <p:cNvSpPr txBox="1"/>
          <p:nvPr/>
        </p:nvSpPr>
        <p:spPr>
          <a:xfrm>
            <a:off x="7300789" y="1472299"/>
            <a:ext cx="41226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Padrões Psicossociais (IPS) como Preditores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Indicador de Alerta: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análise sugere que o IPS não é o principal motor de crescimento, mas funciona como um indicador de estabilidade. Quedas </a:t>
            </a:r>
            <a:r>
              <a:rPr lang="pt-BR" sz="1200">
                <a:solidFill>
                  <a:schemeClr val="dk1"/>
                </a:solidFill>
              </a:rPr>
              <a:t>sutis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no IPS (convivência e comportamento) tendem a preceder o </a:t>
            </a:r>
            <a:r>
              <a:rPr lang="pt-BR" sz="1200">
                <a:solidFill>
                  <a:schemeClr val="dk1"/>
                </a:solidFill>
              </a:rPr>
              <a:t>baixo desempenho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acad</a:t>
            </a:r>
            <a:r>
              <a:rPr lang="pt-BR" sz="1200">
                <a:solidFill>
                  <a:schemeClr val="dk1"/>
                </a:solidFill>
              </a:rPr>
              <a:t>êmico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pt-BR" sz="1200">
                <a:solidFill>
                  <a:schemeClr val="dk1"/>
                </a:solidFill>
              </a:rPr>
              <a:t>IDA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Antecedência de Queda: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modelo temporal (LAG), embora o peso acadêmico (INDE) seja soberano, variações negativas no bem-estar psicossocial costumam aparecer um ciclo antes de uma queda perceptível no desempenho acadêmico (IDA).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Fator de Proteção: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Alunos com IPS estável apresentam maior resiliência; mesmo diante de desafios acadêmicos, eles demoram mais a reduzir o engajamento. Já alunos com IPS instável são mais vulneráveis a abandonos de ciclo ou quedas bruscas de nota.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Conclusão: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IPS não "causa" a nota alta, nem aumenta o engajamento, mas "anuncia" o risco de queda futura no engajamento e no desempenho.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128187" y="147700"/>
            <a:ext cx="4122515" cy="7386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 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Aspectos psicossociais (IPS): Há padrões psicossociais (IPS) que antecedem quedas de desempenho acadêmico ou de engajamento?</a:t>
            </a:r>
            <a:endParaRPr/>
          </a:p>
        </p:txBody>
      </p:sp>
      <p:pic>
        <p:nvPicPr>
          <p:cNvPr id="197" name="Google Shape;197;p29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8" name="Google Shape;198;p29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99" name="Google Shape;199;p29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00" name="Google Shape;200;p29"/>
            <p:cNvCxnSpPr>
              <a:endCxn id="199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01" name="Google Shape;201;p29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  <p:pic>
        <p:nvPicPr>
          <p:cNvPr id="202" name="Google Shape;202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175" y="1980248"/>
            <a:ext cx="6803575" cy="38327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0"/>
          <p:cNvSpPr/>
          <p:nvPr/>
        </p:nvSpPr>
        <p:spPr>
          <a:xfrm>
            <a:off x="7337357" y="1338625"/>
            <a:ext cx="4261500" cy="49305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0"/>
          <p:cNvSpPr txBox="1"/>
          <p:nvPr/>
        </p:nvSpPr>
        <p:spPr>
          <a:xfrm>
            <a:off x="7434569" y="1559075"/>
            <a:ext cx="4122600" cy="47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Aspectos Psicopedagógicos (IPP) vs. Defasagem (IAN)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Confirmação Técnica: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Os dados indicam uma convergência. Alunos identificados com defasagem severa pelo IAN (-2 ou -3 anos) também apresentam pontuações de IPP mais baixas. Isso mostra que a dificuldade escolar não é apenas burocrática, mas reflete desafios de aprendizagem reais diagnosticados.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Identificação de Barreiras: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IPP atua como a "prova real". Quando o IAN aponta atraso, o IPP geralmente confirma lacunas em funções cognitivas ou pedagógicas que impedem o aluno de avançar para o nível ideal.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Ponto de Contradição: </a:t>
            </a:r>
            <a:r>
              <a:rPr lang="pt-BR" sz="1200">
                <a:solidFill>
                  <a:schemeClr val="dk1"/>
                </a:solidFill>
              </a:rPr>
              <a:t>Em alguns casos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onde o IPP é alto mas o IAN mostra defasagem sugerem fatores externos (como falta de acesso anterior à escola ou questões sociais) e não uma dificuldade de aprendizado do aluno em si.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Conclusão: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 avaliações confirmam a defasagem. O IAN diz "onde" o aluno está, e o IPP explica "por que" ele ainda não avançou, validando a necessidade de intervenções específicas para cada fase.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0"/>
          <p:cNvSpPr txBox="1"/>
          <p:nvPr/>
        </p:nvSpPr>
        <p:spPr>
          <a:xfrm>
            <a:off x="128187" y="147700"/>
            <a:ext cx="4122515" cy="7386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6. 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Aspectos psicopedagógicos (IPP): As avaliações psicopedagógicas (IPP) confirmam ou contradizem a defasagem identificada pelo IAN?</a:t>
            </a:r>
            <a:endParaRPr/>
          </a:p>
        </p:txBody>
      </p:sp>
      <p:pic>
        <p:nvPicPr>
          <p:cNvPr id="211" name="Google Shape;211;p30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2" name="Google Shape;212;p30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213" name="Google Shape;213;p30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4" name="Google Shape;214;p30"/>
            <p:cNvCxnSpPr>
              <a:endCxn id="213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id="215" name="Google Shape;215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2226" y="1198286"/>
            <a:ext cx="6950248" cy="5345393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30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"/>
          <p:cNvSpPr/>
          <p:nvPr/>
        </p:nvSpPr>
        <p:spPr>
          <a:xfrm>
            <a:off x="5786307" y="636825"/>
            <a:ext cx="4794900" cy="55353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23" name="Google Shape;223;p11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4" name="Google Shape;224;p11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225" name="Google Shape;225;p11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26" name="Google Shape;226;p11"/>
            <p:cNvCxnSpPr>
              <a:endCxn id="225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27" name="Google Shape;227;p11"/>
          <p:cNvSpPr txBox="1"/>
          <p:nvPr/>
        </p:nvSpPr>
        <p:spPr>
          <a:xfrm>
            <a:off x="6139512" y="2199279"/>
            <a:ext cx="4122600" cy="37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 que move o Ponto de Virada (IPV) ?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 Peso do Acadêmico: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 INDE é o principal motor do sucesso. O desempenho do ano passado é o que melhor prevê o crescimento do aluno no ano seguinte.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Força da Evolução: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Quando o aluno melhora seu INDE (Δ), o IPV sobe quase que automaticamente, sendo impulsionado também pelo maior engajamento (IEG).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Fator de Elite: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Alunos com as maiores notas (Top 25%) têm um Ponto de Virada significativamente mais alto, confirmando que a base acadêmica sólida é o que sustenta a evolução.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1"/>
          <p:cNvSpPr txBox="1"/>
          <p:nvPr/>
        </p:nvSpPr>
        <p:spPr>
          <a:xfrm>
            <a:off x="6139514" y="859972"/>
            <a:ext cx="41226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Pergunta 7 - Ponto de virada (IPV): Quais comportamentos - acadêmicos, emocionais ou de engajamento - mais influenciam o IPV ao longo do tempo?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9" name="Google Shape;229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2000" y="101452"/>
            <a:ext cx="4943160" cy="6070747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11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/>
          <p:nvPr/>
        </p:nvSpPr>
        <p:spPr>
          <a:xfrm>
            <a:off x="6923050" y="1168899"/>
            <a:ext cx="4794900" cy="45186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ráfico, Gráfico de barras&#10;&#10;O conteúdo gerado por IA pode estar incorreto." id="237" name="Google Shape;23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169620"/>
            <a:ext cx="6801020" cy="451876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12"/>
          <p:cNvSpPr txBox="1"/>
          <p:nvPr/>
        </p:nvSpPr>
        <p:spPr>
          <a:xfrm>
            <a:off x="7128218" y="1443857"/>
            <a:ext cx="46023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que realmente eleva o INDE?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Dupla Dinâmica: IDA + IEG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Impacto:</a:t>
            </a:r>
            <a:r>
              <a:rPr b="0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Responsáveis por 71,8% da nota global.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Significado:</a:t>
            </a:r>
            <a:r>
              <a:rPr b="0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 sucesso é movido pela combinação entre Resultado Acadêmico e Intensidade de Engajamento.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Modelo Completo (Todos os indicadores):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Impacto:</a:t>
            </a:r>
            <a:r>
              <a:rPr b="0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Sobe para 81,4%.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Insight:</a:t>
            </a:r>
            <a:r>
              <a:rPr b="0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As dimensões sociais e psicossociais servem como um "ajuste fino", mas o sucesso acadêmico e o engajamento são os pilares que sustentam a evolução do aluno.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9" name="Google Shape;239;p12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0" name="Google Shape;240;p12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241" name="Google Shape;241;p12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42" name="Google Shape;242;p12"/>
            <p:cNvCxnSpPr>
              <a:endCxn id="241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43" name="Google Shape;243;p12"/>
          <p:cNvSpPr txBox="1"/>
          <p:nvPr/>
        </p:nvSpPr>
        <p:spPr>
          <a:xfrm>
            <a:off x="58388" y="107033"/>
            <a:ext cx="4602332" cy="7386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8.⁠ ⁠Multidimensionalidade dos indicadores: Quais combinações de indicadores (IDA + IEG + IPS + IPP) elevam mais a nota global do aluno (INDE)?</a:t>
            </a:r>
            <a:endParaRPr/>
          </a:p>
        </p:txBody>
      </p:sp>
      <p:sp>
        <p:nvSpPr>
          <p:cNvPr id="244" name="Google Shape;244;p12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3"/>
          <p:cNvSpPr/>
          <p:nvPr/>
        </p:nvSpPr>
        <p:spPr>
          <a:xfrm>
            <a:off x="5568586" y="683325"/>
            <a:ext cx="6345000" cy="26490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51" name="Google Shape;25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416" y="1061100"/>
            <a:ext cx="4981874" cy="246826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72908" y="3719545"/>
            <a:ext cx="5440661" cy="2695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388" y="3848665"/>
            <a:ext cx="5346667" cy="264900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13"/>
          <p:cNvPicPr preferRelativeResize="0"/>
          <p:nvPr/>
        </p:nvPicPr>
        <p:blipFill rotWithShape="1">
          <a:blip r:embed="rId6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5" name="Google Shape;255;p13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256" name="Google Shape;256;p13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57" name="Google Shape;257;p13"/>
            <p:cNvCxnSpPr>
              <a:endCxn id="256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58" name="Google Shape;258;p13"/>
          <p:cNvSpPr txBox="1"/>
          <p:nvPr/>
        </p:nvSpPr>
        <p:spPr>
          <a:xfrm>
            <a:off x="58388" y="107033"/>
            <a:ext cx="6412750" cy="7386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10. Efetividade do programa: Os indicadores mostram melhora consistente ao longo do ciclo nas diferentes fases (Quartzo, Ágata, Ametista e Topázio), confirmando o impacto real do programa?</a:t>
            </a:r>
            <a:endParaRPr/>
          </a:p>
        </p:txBody>
      </p:sp>
      <p:sp>
        <p:nvSpPr>
          <p:cNvPr id="259" name="Google Shape;259;p13"/>
          <p:cNvSpPr txBox="1"/>
          <p:nvPr/>
        </p:nvSpPr>
        <p:spPr>
          <a:xfrm>
            <a:off x="5748505" y="842608"/>
            <a:ext cx="6345000" cy="24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Desempenho por Fases: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Alerta de Sustentabilidade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2022 → 2023: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Crescimento generalizado (Impacto inicial positivo).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2023 → 2024: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Queda em todas as fases (Platô de desempenho).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Saldo 2024 vs 2022: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Apenas Quartzo (+); Ágata, Ametista e Topázio (stagnado/-).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Diagnóstico: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 impacto atual é cíclico e não contínuo. É necessário revisar as estratégias de retenção de aprendizado para os ciclos mais avançados.</a:t>
            </a:r>
            <a:endParaRPr/>
          </a:p>
        </p:txBody>
      </p:sp>
      <p:sp>
        <p:nvSpPr>
          <p:cNvPr id="260" name="Google Shape;260;p13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essoas sentadas ao redor de uma mesa&#10;&#10;O conteúdo gerado por IA pode estar incorreto." id="265" name="Google Shape;265;p15"/>
          <p:cNvPicPr preferRelativeResize="0"/>
          <p:nvPr/>
        </p:nvPicPr>
        <p:blipFill rotWithShape="1">
          <a:blip r:embed="rId3">
            <a:alphaModFix amt="5000"/>
          </a:blip>
          <a:srcRect b="0" l="0" r="0" t="0"/>
          <a:stretch/>
        </p:blipFill>
        <p:spPr>
          <a:xfrm>
            <a:off x="-674914" y="-239486"/>
            <a:ext cx="12866914" cy="857794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essoas sentadas ao redor de uma mesa&#10;&#10;O conteúdo gerado por IA pode estar incorreto." id="266" name="Google Shape;266;p15"/>
          <p:cNvPicPr preferRelativeResize="0"/>
          <p:nvPr/>
        </p:nvPicPr>
        <p:blipFill rotWithShape="1">
          <a:blip r:embed="rId4">
            <a:alphaModFix amt="35000"/>
          </a:blip>
          <a:srcRect b="0" l="0" r="0" t="0"/>
          <a:stretch/>
        </p:blipFill>
        <p:spPr>
          <a:xfrm>
            <a:off x="-674914" y="-239486"/>
            <a:ext cx="12866914" cy="857794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5"/>
          <p:cNvSpPr/>
          <p:nvPr/>
        </p:nvSpPr>
        <p:spPr>
          <a:xfrm>
            <a:off x="-674914" y="-239486"/>
            <a:ext cx="12866914" cy="8577942"/>
          </a:xfrm>
          <a:prstGeom prst="rect">
            <a:avLst/>
          </a:prstGeom>
          <a:solidFill>
            <a:srgbClr val="000000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5"/>
          <p:cNvSpPr txBox="1"/>
          <p:nvPr/>
        </p:nvSpPr>
        <p:spPr>
          <a:xfrm>
            <a:off x="-1058637" y="946309"/>
            <a:ext cx="13634357" cy="22159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800"/>
              <a:buFont typeface="Arial"/>
              <a:buNone/>
            </a:pPr>
            <a:r>
              <a:rPr b="1" i="0" lang="pt-BR" sz="13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OBRIGADO!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5"/>
          <p:cNvSpPr txBox="1"/>
          <p:nvPr/>
        </p:nvSpPr>
        <p:spPr>
          <a:xfrm>
            <a:off x="1523993" y="3733801"/>
            <a:ext cx="8469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pt-BR" sz="1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BRYAN TIETE TANOUE– RM362429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pt-BR" sz="1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GUSTAVO BASTOS DOS SANTOS – RM361755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pt-BR" sz="1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LUIS FERNANDO ALVES DE SANTANA – RM361489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pt-BR" sz="1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PEDRO HENRIQUE BARADEL OLIVEIRA DOS SANTOS – RM361487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pt-BR" sz="1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VITOR JACOB BOMURA MENDELSOHN – RM</a:t>
            </a:r>
            <a:r>
              <a:rPr b="1" lang="pt-BR" sz="1800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362109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0" name="Google Shape;270;p15"/>
          <p:cNvPicPr preferRelativeResize="0"/>
          <p:nvPr/>
        </p:nvPicPr>
        <p:blipFill rotWithShape="1">
          <a:blip r:embed="rId5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2026-02-17T15:33:37Z</dcterms:created>
  <dc:creator>Pedro Baradel</dc:creator>
</cp:coreProperties>
</file>