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73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66" r:id="rId12"/>
    <p:sldId id="267" r:id="rId13"/>
    <p:sldId id="268" r:id="rId14"/>
    <p:sldId id="270" r:id="rId15"/>
  </p:sldIdLst>
  <p:sldSz cx="12192000" cy="6858000"/>
  <p:notesSz cx="6858000" cy="9144000"/>
  <p:embeddedFontLst>
    <p:embeddedFont>
      <p:font typeface="Play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qXPCh3qcbJeAGyevjbyvQg/TG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330068DA-7714-57DC-95BA-57424188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:notes">
            <a:extLst>
              <a:ext uri="{FF2B5EF4-FFF2-40B4-BE49-F238E27FC236}">
                <a16:creationId xmlns:a16="http://schemas.microsoft.com/office/drawing/2014/main" id="{CA36DAA2-73B7-95AD-DC27-73FFA48B8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3:notes">
            <a:extLst>
              <a:ext uri="{FF2B5EF4-FFF2-40B4-BE49-F238E27FC236}">
                <a16:creationId xmlns:a16="http://schemas.microsoft.com/office/drawing/2014/main" id="{86F1B9C2-3772-58D0-6A33-CA455AF0DA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p3:notes">
            <a:extLst>
              <a:ext uri="{FF2B5EF4-FFF2-40B4-BE49-F238E27FC236}">
                <a16:creationId xmlns:a16="http://schemas.microsoft.com/office/drawing/2014/main" id="{BCB26989-2281-C8BE-B8E0-8094F2D227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4179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222" name="Google Shape;22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232" name="Google Shape;23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241" name="Google Shape;24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250" name="Google Shape;25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2E295CFD-84EB-4C1C-21ED-11C90575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>
            <a:extLst>
              <a:ext uri="{FF2B5EF4-FFF2-40B4-BE49-F238E27FC236}">
                <a16:creationId xmlns:a16="http://schemas.microsoft.com/office/drawing/2014/main" id="{41CE9B96-40F7-A7AD-8A93-B7A6E6A8E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8:notes">
            <a:extLst>
              <a:ext uri="{FF2B5EF4-FFF2-40B4-BE49-F238E27FC236}">
                <a16:creationId xmlns:a16="http://schemas.microsoft.com/office/drawing/2014/main" id="{0F45C052-A429-84A6-27C7-60848B571C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250" name="Google Shape;250;p8:notes">
            <a:extLst>
              <a:ext uri="{FF2B5EF4-FFF2-40B4-BE49-F238E27FC236}">
                <a16:creationId xmlns:a16="http://schemas.microsoft.com/office/drawing/2014/main" id="{4166054A-0AA5-741A-64DA-33E5597D84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3420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C3FC6552-B254-7330-80AD-5CD2F5EB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>
            <a:extLst>
              <a:ext uri="{FF2B5EF4-FFF2-40B4-BE49-F238E27FC236}">
                <a16:creationId xmlns:a16="http://schemas.microsoft.com/office/drawing/2014/main" id="{6AE4C445-D530-FFD1-2250-40BBE02B8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8:notes">
            <a:extLst>
              <a:ext uri="{FF2B5EF4-FFF2-40B4-BE49-F238E27FC236}">
                <a16:creationId xmlns:a16="http://schemas.microsoft.com/office/drawing/2014/main" id="{EE53364C-2EC5-BEBC-7F67-900689694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250" name="Google Shape;250;p8:notes">
            <a:extLst>
              <a:ext uri="{FF2B5EF4-FFF2-40B4-BE49-F238E27FC236}">
                <a16:creationId xmlns:a16="http://schemas.microsoft.com/office/drawing/2014/main" id="{6C4C6BC1-F837-50DB-D329-93F41F9A29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82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5" name="Google Shape;27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284" name="Google Shape;28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b="0" i="0">
                <a:latin typeface="Arial"/>
                <a:ea typeface="Arial"/>
                <a:cs typeface="Arial"/>
                <a:sym typeface="Arial"/>
              </a:rPr>
              <a:t>Pergunta 10 - Efetividade do programa: Os indicadores mostram melhora consistente ao longo do ciclo nas diferentes fases (Quartzo, Ágata, Ametista e Topázio), confirmando o impacto real do programa?</a:t>
            </a:r>
            <a:endParaRPr lang="pt-BR" dirty="0"/>
          </a:p>
        </p:txBody>
      </p:sp>
      <p:sp>
        <p:nvSpPr>
          <p:cNvPr id="293" name="Google Shape;29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Pessoas sentadas ao redor de uma mesa&#10;&#10;O conteúdo gerado por IA pode estar incorreto.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>
            <a:off x="-674914" y="-239486"/>
            <a:ext cx="12866914" cy="8577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Pessoas sentadas ao redor de uma mesa&#10;&#10;O conteúdo gerado por IA pode estar incorreto.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-674914" y="-239486"/>
            <a:ext cx="12866914" cy="857794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-674914" y="-239486"/>
            <a:ext cx="12866914" cy="8577942"/>
          </a:xfrm>
          <a:prstGeom prst="rect">
            <a:avLst/>
          </a:prstGeom>
          <a:solidFill>
            <a:srgbClr val="000000">
              <a:alpha val="8784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27760" y="272716"/>
            <a:ext cx="12192001" cy="535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0" b="1" i="0" u="none" strike="noStrike" cap="none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DATATHON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TECH CHALLENGE 5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8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27000" y="6323674"/>
            <a:ext cx="332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8;p2">
            <a:extLst>
              <a:ext uri="{FF2B5EF4-FFF2-40B4-BE49-F238E27FC236}">
                <a16:creationId xmlns:a16="http://schemas.microsoft.com/office/drawing/2014/main" id="{321AFECF-3D86-EF36-A282-047E641F38D6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3" name="Google Shape;199;p2">
              <a:extLst>
                <a:ext uri="{FF2B5EF4-FFF2-40B4-BE49-F238E27FC236}">
                  <a16:creationId xmlns:a16="http://schemas.microsoft.com/office/drawing/2014/main" id="{AE9274C1-01F0-C22A-EE3A-012A907DAC07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" name="Google Shape;200;p2">
              <a:extLst>
                <a:ext uri="{FF2B5EF4-FFF2-40B4-BE49-F238E27FC236}">
                  <a16:creationId xmlns:a16="http://schemas.microsoft.com/office/drawing/2014/main" id="{48DA260E-EE83-0B5F-8E90-68F52104BE04}"/>
                </a:ext>
              </a:extLst>
            </p:cNvPr>
            <p:cNvCxnSpPr>
              <a:endCxn id="3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9;p3">
            <a:extLst>
              <a:ext uri="{FF2B5EF4-FFF2-40B4-BE49-F238E27FC236}">
                <a16:creationId xmlns:a16="http://schemas.microsoft.com/office/drawing/2014/main" id="{2F3C52E5-F288-F859-35EA-FB69B340EF23}"/>
              </a:ext>
            </a:extLst>
          </p:cNvPr>
          <p:cNvSpPr/>
          <p:nvPr/>
        </p:nvSpPr>
        <p:spPr>
          <a:xfrm>
            <a:off x="5014219" y="2484350"/>
            <a:ext cx="150967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pt-BR" dirty="0"/>
              <a:t>INTRODUÇÃO</a:t>
            </a:r>
          </a:p>
        </p:txBody>
      </p:sp>
      <p:pic>
        <p:nvPicPr>
          <p:cNvPr id="3" name="Google Shape;99;p2">
            <a:extLst>
              <a:ext uri="{FF2B5EF4-FFF2-40B4-BE49-F238E27FC236}">
                <a16:creationId xmlns:a16="http://schemas.microsoft.com/office/drawing/2014/main" id="{917BCBA9-264D-4B5F-F191-2E74D97F6316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198;p2">
            <a:extLst>
              <a:ext uri="{FF2B5EF4-FFF2-40B4-BE49-F238E27FC236}">
                <a16:creationId xmlns:a16="http://schemas.microsoft.com/office/drawing/2014/main" id="{B22C52CA-C15A-EA5C-D606-793C2B740815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5" name="Google Shape;199;p2">
              <a:extLst>
                <a:ext uri="{FF2B5EF4-FFF2-40B4-BE49-F238E27FC236}">
                  <a16:creationId xmlns:a16="http://schemas.microsoft.com/office/drawing/2014/main" id="{828D2A27-2D63-95BF-F571-4091A03FF189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" name="Google Shape;200;p2">
              <a:extLst>
                <a:ext uri="{FF2B5EF4-FFF2-40B4-BE49-F238E27FC236}">
                  <a16:creationId xmlns:a16="http://schemas.microsoft.com/office/drawing/2014/main" id="{D05B16E6-46AC-30FE-B3F7-A929925D51E4}"/>
                </a:ext>
              </a:extLst>
            </p:cNvPr>
            <p:cNvCxnSpPr>
              <a:endCxn id="5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8F6194BB-4B70-4C89-B1C1-067F7BADE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">
            <a:extLst>
              <a:ext uri="{FF2B5EF4-FFF2-40B4-BE49-F238E27FC236}">
                <a16:creationId xmlns:a16="http://schemas.microsoft.com/office/drawing/2014/main" id="{DC7A92BE-C449-AF3D-B96B-CF3927EA87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3490" y="1081197"/>
            <a:ext cx="8946481" cy="3135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">
            <a:extLst>
              <a:ext uri="{FF2B5EF4-FFF2-40B4-BE49-F238E27FC236}">
                <a16:creationId xmlns:a16="http://schemas.microsoft.com/office/drawing/2014/main" id="{335FA1EA-E030-02F7-F8A1-4DD8088D21B3}"/>
              </a:ext>
            </a:extLst>
          </p:cNvPr>
          <p:cNvSpPr/>
          <p:nvPr/>
        </p:nvSpPr>
        <p:spPr>
          <a:xfrm>
            <a:off x="461639" y="4391829"/>
            <a:ext cx="10639409" cy="154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 de Defasagem (IAN) por Sexo e Evolução</a:t>
            </a:r>
            <a:endParaRPr sz="105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 sz="105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666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pt-BR" sz="105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Redução da Defasagem Crítica:</a:t>
            </a:r>
            <a:r>
              <a:rPr lang="pt-BR" sz="105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Há uma queda consistente nos níveis de defasagem mais graves (-3 e -2) em ambos os gêneros entre 2022 e 2023. Isso indica que a estratégia pedagógica está sendo eficaz em "puxar" os alunos que estavam mais atrasados para níveis mais próximos do ideal.</a:t>
            </a:r>
            <a:endParaRPr dirty="0"/>
          </a:p>
          <a:p>
            <a:pPr marL="0" marR="0" lvl="0" indent="-66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pt-BR" sz="105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Crescimento na "Normalização" (Defasagem 0):</a:t>
            </a:r>
            <a:r>
              <a:rPr lang="pt-BR" sz="105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Crescimento contínuo de alunos no nível ideal (Defasagem 0). O grupo </a:t>
            </a:r>
            <a:r>
              <a:rPr lang="pt-BR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Feminino</a:t>
            </a:r>
            <a:r>
              <a:rPr lang="pt-BR"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lidera com alta de </a:t>
            </a:r>
            <a:r>
              <a:rPr lang="pt-BR" sz="10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81,95%</a:t>
            </a:r>
            <a:r>
              <a:rPr lang="pt-BR"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nessa categoria. </a:t>
            </a:r>
            <a:endParaRPr sz="10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666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pt-BR" sz="105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grupo </a:t>
            </a:r>
            <a:r>
              <a:rPr lang="pt-BR" sz="105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  <a:r>
              <a:rPr lang="pt-BR" sz="105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também cresceu de forma constante, passando de 114 para 149 alunos no nível 0 no mesmo período.</a:t>
            </a:r>
            <a:endParaRPr dirty="0"/>
          </a:p>
          <a:p>
            <a:pPr marL="0" marR="0" lvl="0" indent="-666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pt-BR" sz="105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Alerta em 2024:</a:t>
            </a:r>
            <a:r>
              <a:rPr lang="pt-BR" sz="105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Conforme sua observação, embora o histórico seja positivo, o aumento da defasagem em 2024 (especialmente no público masculino) sugere a entrada de novos alunos com maior defasagem ou um novo desafio de adaptação curricular que precisa de atenção.</a:t>
            </a:r>
            <a:endParaRPr dirty="0"/>
          </a:p>
        </p:txBody>
      </p:sp>
      <p:sp>
        <p:nvSpPr>
          <p:cNvPr id="2" name="Google Shape;209;p3">
            <a:extLst>
              <a:ext uri="{FF2B5EF4-FFF2-40B4-BE49-F238E27FC236}">
                <a16:creationId xmlns:a16="http://schemas.microsoft.com/office/drawing/2014/main" id="{3B3CCBB8-F3FB-FBE2-A253-4B9F82E69344}"/>
              </a:ext>
            </a:extLst>
          </p:cNvPr>
          <p:cNvSpPr/>
          <p:nvPr/>
        </p:nvSpPr>
        <p:spPr>
          <a:xfrm>
            <a:off x="169658" y="246676"/>
            <a:ext cx="4846723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pt-BR" dirty="0"/>
              <a:t>1. Adequação do nível (IAN): Qual é o perfil geral de defasagem dos alunos (IAN) e como ele evolui ao longo do ano?</a:t>
            </a:r>
          </a:p>
        </p:txBody>
      </p:sp>
      <p:pic>
        <p:nvPicPr>
          <p:cNvPr id="3" name="Google Shape;99;p2">
            <a:extLst>
              <a:ext uri="{FF2B5EF4-FFF2-40B4-BE49-F238E27FC236}">
                <a16:creationId xmlns:a16="http://schemas.microsoft.com/office/drawing/2014/main" id="{8BB431C1-2B3E-DC39-D982-DF33465D09E8}"/>
              </a:ext>
            </a:extLst>
          </p:cNvPr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198;p2">
            <a:extLst>
              <a:ext uri="{FF2B5EF4-FFF2-40B4-BE49-F238E27FC236}">
                <a16:creationId xmlns:a16="http://schemas.microsoft.com/office/drawing/2014/main" id="{A5581C9A-CEB6-27BB-9ED3-30BF5E6E1EC0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5" name="Google Shape;199;p2">
              <a:extLst>
                <a:ext uri="{FF2B5EF4-FFF2-40B4-BE49-F238E27FC236}">
                  <a16:creationId xmlns:a16="http://schemas.microsoft.com/office/drawing/2014/main" id="{C304AE19-2F84-F2F9-6207-365F77C713CC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" name="Google Shape;200;p2">
              <a:extLst>
                <a:ext uri="{FF2B5EF4-FFF2-40B4-BE49-F238E27FC236}">
                  <a16:creationId xmlns:a16="http://schemas.microsoft.com/office/drawing/2014/main" id="{B08D2405-0F42-FEBE-9DA5-D4367AFF2D23}"/>
                </a:ext>
              </a:extLst>
            </p:cNvPr>
            <p:cNvCxnSpPr>
              <a:endCxn id="5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22563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625" y="213064"/>
            <a:ext cx="6276512" cy="627651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"/>
          <p:cNvSpPr/>
          <p:nvPr/>
        </p:nvSpPr>
        <p:spPr>
          <a:xfrm>
            <a:off x="7244179" y="1492030"/>
            <a:ext cx="4669654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Análise de Defasagem por Fase (Cenário 2024)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Concentração em Fases Iniciais: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dados de 2024 mostram que a defasagem negativa (abaixo de zero) é muito mais acentuada nas fases </a:t>
            </a:r>
            <a:r>
              <a:rPr lang="pt-B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ALFA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pt-B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Isso confirma que o "gargalo" educacional ocorre logo no ingresso ou nas etapas de alfabetização.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Inversão Positiva em Fases Intermediárias: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partir da </a:t>
            </a:r>
            <a:r>
              <a:rPr lang="pt-B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 2 e FASE 3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vemos uma inversão interessante: o número de alunos com defasagem positiva (acima de zero) supera os negativos.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na FASE 3: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156 alunos estão acima do nível esperado contra apenas 55 abaixo. Isso sugere que, uma vez que o aluno supera as fases iniciais, ele tende a acelerar seu desempenho.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99;p2">
            <a:extLst>
              <a:ext uri="{FF2B5EF4-FFF2-40B4-BE49-F238E27FC236}">
                <a16:creationId xmlns:a16="http://schemas.microsoft.com/office/drawing/2014/main" id="{BEE43537-FD15-9787-1494-D4F375F93D9E}"/>
              </a:ext>
            </a:extLst>
          </p:cNvPr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198;p2">
            <a:extLst>
              <a:ext uri="{FF2B5EF4-FFF2-40B4-BE49-F238E27FC236}">
                <a16:creationId xmlns:a16="http://schemas.microsoft.com/office/drawing/2014/main" id="{3867D6B2-57E4-908D-4967-CF8737092A89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4" name="Google Shape;199;p2">
              <a:extLst>
                <a:ext uri="{FF2B5EF4-FFF2-40B4-BE49-F238E27FC236}">
                  <a16:creationId xmlns:a16="http://schemas.microsoft.com/office/drawing/2014/main" id="{F0F7FE03-FABB-35DB-68EA-5CC95BE2E293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" name="Google Shape;200;p2">
              <a:extLst>
                <a:ext uri="{FF2B5EF4-FFF2-40B4-BE49-F238E27FC236}">
                  <a16:creationId xmlns:a16="http://schemas.microsoft.com/office/drawing/2014/main" id="{A9639E8F-BBDE-BCA3-51AA-855D8423313A}"/>
                </a:ext>
              </a:extLst>
            </p:cNvPr>
            <p:cNvCxnSpPr>
              <a:endCxn id="4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"/>
          <p:cNvSpPr/>
          <p:nvPr/>
        </p:nvSpPr>
        <p:spPr>
          <a:xfrm>
            <a:off x="7590408" y="1786216"/>
            <a:ext cx="4669654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Destaques do Projeto (2022-2024)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Ingresso e Nivelamento:</a:t>
            </a:r>
            <a:r>
              <a:rPr lang="pt-BR" sz="1200" dirty="0">
                <a:solidFill>
                  <a:schemeClr val="dk1"/>
                </a:solidFill>
              </a:rPr>
              <a:t> Foco na correção das bases (ALFA) para reverter o histórico de atraso escolar severo.</a:t>
            </a:r>
          </a:p>
          <a:p>
            <a:pPr lvl="0"/>
            <a:endParaRPr lang="pt-BR" sz="1200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Maturação:</a:t>
            </a:r>
            <a:r>
              <a:rPr lang="pt-BR" sz="1200" dirty="0">
                <a:solidFill>
                  <a:schemeClr val="dk1"/>
                </a:solidFill>
              </a:rPr>
              <a:t> Progressão acelerada com marcos de sucesso atingindo o ápice nas fases intermediárias.</a:t>
            </a:r>
          </a:p>
          <a:p>
            <a:pPr lvl="0"/>
            <a:endParaRPr lang="pt-BR" sz="1200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Excelência Sustentada:</a:t>
            </a:r>
            <a:r>
              <a:rPr lang="pt-BR" sz="1200" dirty="0">
                <a:solidFill>
                  <a:schemeClr val="dk1"/>
                </a:solidFill>
              </a:rPr>
              <a:t> Evolução contínua do desempenho (IDA) ao longo dos anos, garantindo que o aluno chegue às fases finais com maturidade e notas sólidas.</a:t>
            </a:r>
          </a:p>
        </p:txBody>
      </p:sp>
      <p:pic>
        <p:nvPicPr>
          <p:cNvPr id="9" name="Imagem 8" descr="Gráfico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3E95DDAB-6A96-011B-36B3-C678D3447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94" y="1495229"/>
            <a:ext cx="7071120" cy="3358782"/>
          </a:xfrm>
          <a:prstGeom prst="rect">
            <a:avLst/>
          </a:prstGeom>
        </p:spPr>
      </p:pic>
      <p:sp>
        <p:nvSpPr>
          <p:cNvPr id="10" name="Google Shape;225;p5">
            <a:extLst>
              <a:ext uri="{FF2B5EF4-FFF2-40B4-BE49-F238E27FC236}">
                <a16:creationId xmlns:a16="http://schemas.microsoft.com/office/drawing/2014/main" id="{527A3FB5-C9ED-6E29-397F-B48914501B22}"/>
              </a:ext>
            </a:extLst>
          </p:cNvPr>
          <p:cNvSpPr/>
          <p:nvPr/>
        </p:nvSpPr>
        <p:spPr>
          <a:xfrm>
            <a:off x="60139" y="162293"/>
            <a:ext cx="646884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pt-BR" sz="1200" dirty="0"/>
              <a:t>2. Desempenho acadêmico (IDA): O desempenho acadêmico médio (IDA) está melhorando, estagnado ou caindo ao longo das fases e anos?</a:t>
            </a:r>
          </a:p>
        </p:txBody>
      </p:sp>
      <p:pic>
        <p:nvPicPr>
          <p:cNvPr id="12" name="Google Shape;99;p2">
            <a:extLst>
              <a:ext uri="{FF2B5EF4-FFF2-40B4-BE49-F238E27FC236}">
                <a16:creationId xmlns:a16="http://schemas.microsoft.com/office/drawing/2014/main" id="{CF607D13-D627-7EFC-A784-50CFD478BBAF}"/>
              </a:ext>
            </a:extLst>
          </p:cNvPr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98;p2">
            <a:extLst>
              <a:ext uri="{FF2B5EF4-FFF2-40B4-BE49-F238E27FC236}">
                <a16:creationId xmlns:a16="http://schemas.microsoft.com/office/drawing/2014/main" id="{F55FE43F-BB3C-0AA3-AEC0-CEFA8A097FDA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14" name="Google Shape;199;p2">
              <a:extLst>
                <a:ext uri="{FF2B5EF4-FFF2-40B4-BE49-F238E27FC236}">
                  <a16:creationId xmlns:a16="http://schemas.microsoft.com/office/drawing/2014/main" id="{970692C3-9DAA-599E-95C6-D2065FE9A76C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" name="Google Shape;200;p2">
              <a:extLst>
                <a:ext uri="{FF2B5EF4-FFF2-40B4-BE49-F238E27FC236}">
                  <a16:creationId xmlns:a16="http://schemas.microsoft.com/office/drawing/2014/main" id="{D5C79D50-C05A-59FE-4A14-02D0F7E694F3}"/>
                </a:ext>
              </a:extLst>
            </p:cNvPr>
            <p:cNvCxnSpPr>
              <a:endCxn id="14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288" y="1438275"/>
            <a:ext cx="49053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/>
          <p:nvPr/>
        </p:nvSpPr>
        <p:spPr>
          <a:xfrm>
            <a:off x="5504156" y="1899960"/>
            <a:ext cx="4669654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pt-BR" sz="1200" b="1" dirty="0">
                <a:solidFill>
                  <a:schemeClr val="dk1"/>
                </a:solidFill>
              </a:rPr>
              <a:t>Conexão Direta: </a:t>
            </a:r>
            <a:r>
              <a:rPr lang="pt-BR" sz="1200" dirty="0">
                <a:solidFill>
                  <a:schemeClr val="dk1"/>
                </a:solidFill>
              </a:rPr>
              <a:t>O engajamento (IEG) não é um dado isolado; ele impulsiona diretamente as notas (IDA) e o amadurecimento (IPV).</a:t>
            </a:r>
          </a:p>
          <a:p>
            <a:pPr lvl="0"/>
            <a:endParaRPr lang="pt-BR" sz="1200" b="1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Zona de Excelência: </a:t>
            </a:r>
            <a:r>
              <a:rPr lang="pt-BR" sz="1200" dirty="0">
                <a:solidFill>
                  <a:schemeClr val="dk1"/>
                </a:solidFill>
              </a:rPr>
              <a:t>Os resultados de elite concentram-se em alunos com IEG acima de 7,5. Abaixo disso, o desempenho acadêmico cai drasticamente.</a:t>
            </a:r>
          </a:p>
          <a:p>
            <a:pPr lvl="0"/>
            <a:endParaRPr lang="pt-BR" sz="1200" b="1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O "Pulo do Gato": </a:t>
            </a:r>
            <a:r>
              <a:rPr lang="pt-BR" sz="1200" dirty="0">
                <a:solidFill>
                  <a:schemeClr val="dk1"/>
                </a:solidFill>
              </a:rPr>
              <a:t>Alunos altamente engajados apresentam um desempenho 93% superior aos menos participativos, provando que o esforço precede o resultado.</a:t>
            </a:r>
            <a:endParaRPr dirty="0"/>
          </a:p>
        </p:txBody>
      </p:sp>
      <p:sp>
        <p:nvSpPr>
          <p:cNvPr id="2" name="Google Shape;235;p6">
            <a:extLst>
              <a:ext uri="{FF2B5EF4-FFF2-40B4-BE49-F238E27FC236}">
                <a16:creationId xmlns:a16="http://schemas.microsoft.com/office/drawing/2014/main" id="{261802C9-50E4-29ED-797F-4398B61B9D11}"/>
              </a:ext>
            </a:extLst>
          </p:cNvPr>
          <p:cNvSpPr/>
          <p:nvPr/>
        </p:nvSpPr>
        <p:spPr>
          <a:xfrm>
            <a:off x="71879" y="154097"/>
            <a:ext cx="466965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pt-BR" sz="1200" dirty="0"/>
              <a:t>3. Engajamento nas atividades (IEG): O grau de engajamento dos alunos (IEG) tem relação direta com seus indicadores de desempenho (IDA) e do ponto de virada (IPV)?</a:t>
            </a:r>
          </a:p>
        </p:txBody>
      </p:sp>
      <p:pic>
        <p:nvPicPr>
          <p:cNvPr id="4" name="Google Shape;99;p2">
            <a:extLst>
              <a:ext uri="{FF2B5EF4-FFF2-40B4-BE49-F238E27FC236}">
                <a16:creationId xmlns:a16="http://schemas.microsoft.com/office/drawing/2014/main" id="{C859D21D-889B-4C01-5795-9FF519AE6B56}"/>
              </a:ext>
            </a:extLst>
          </p:cNvPr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198;p2">
            <a:extLst>
              <a:ext uri="{FF2B5EF4-FFF2-40B4-BE49-F238E27FC236}">
                <a16:creationId xmlns:a16="http://schemas.microsoft.com/office/drawing/2014/main" id="{F09C45A0-7291-974A-9199-B801F71C751C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6" name="Google Shape;199;p2">
              <a:extLst>
                <a:ext uri="{FF2B5EF4-FFF2-40B4-BE49-F238E27FC236}">
                  <a16:creationId xmlns:a16="http://schemas.microsoft.com/office/drawing/2014/main" id="{FA5C42FC-C7D0-E09C-9E6F-B254DF0286CF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" name="Google Shape;200;p2">
              <a:extLst>
                <a:ext uri="{FF2B5EF4-FFF2-40B4-BE49-F238E27FC236}">
                  <a16:creationId xmlns:a16="http://schemas.microsoft.com/office/drawing/2014/main" id="{09262D9B-BBE0-03B8-0919-EF1605B9C661}"/>
                </a:ext>
              </a:extLst>
            </p:cNvPr>
            <p:cNvCxnSpPr>
              <a:endCxn id="6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880" y="211077"/>
            <a:ext cx="3731758" cy="300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9646" y="3511950"/>
            <a:ext cx="3896225" cy="313497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7"/>
          <p:cNvSpPr txBox="1"/>
          <p:nvPr/>
        </p:nvSpPr>
        <p:spPr>
          <a:xfrm>
            <a:off x="5005368" y="979244"/>
            <a:ext cx="5436409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Engajamento (IEG) vs. Desempenho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Relação Direta:</a:t>
            </a:r>
            <a:r>
              <a:rPr lang="pt-BR" sz="16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Maior engajamento reflete-se em melhores notas (IDA) e maior maturidade (IPV).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Zona de Excelência:</a:t>
            </a:r>
            <a:r>
              <a:rPr lang="pt-BR" sz="16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Resultados de elite (IDA e IPV) concentram-se em alunos com IEG acima de 7.5.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Fator Chave:</a:t>
            </a:r>
            <a:r>
              <a:rPr lang="pt-BR" sz="16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correlação de ~0.55, o engajamento é o principal pilar para a consistência académica.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Multifatorial:</a:t>
            </a:r>
            <a:r>
              <a:rPr lang="pt-BR" sz="16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a base do sucesso, embora o desempenho final dependa também de outros fatores.</a:t>
            </a:r>
            <a:endParaRPr sz="1200" dirty="0"/>
          </a:p>
        </p:txBody>
      </p:sp>
      <p:pic>
        <p:nvPicPr>
          <p:cNvPr id="2" name="Google Shape;99;p2">
            <a:extLst>
              <a:ext uri="{FF2B5EF4-FFF2-40B4-BE49-F238E27FC236}">
                <a16:creationId xmlns:a16="http://schemas.microsoft.com/office/drawing/2014/main" id="{AA446FD1-4ACB-F8E1-F344-CCE94854B910}"/>
              </a:ext>
            </a:extLst>
          </p:cNvPr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198;p2">
            <a:extLst>
              <a:ext uri="{FF2B5EF4-FFF2-40B4-BE49-F238E27FC236}">
                <a16:creationId xmlns:a16="http://schemas.microsoft.com/office/drawing/2014/main" id="{06D6A8AC-632B-51E9-A8C8-B3A762B4A703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4" name="Google Shape;199;p2">
              <a:extLst>
                <a:ext uri="{FF2B5EF4-FFF2-40B4-BE49-F238E27FC236}">
                  <a16:creationId xmlns:a16="http://schemas.microsoft.com/office/drawing/2014/main" id="{717EA2F8-7ECD-B53D-5252-149B01DD474E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" name="Google Shape;200;p2">
              <a:extLst>
                <a:ext uri="{FF2B5EF4-FFF2-40B4-BE49-F238E27FC236}">
                  <a16:creationId xmlns:a16="http://schemas.microsoft.com/office/drawing/2014/main" id="{C764C916-FE8C-A4BB-97B5-67F6B3E7C253}"/>
                </a:ext>
              </a:extLst>
            </p:cNvPr>
            <p:cNvCxnSpPr>
              <a:endCxn id="4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5" y="1805663"/>
            <a:ext cx="6633265" cy="384941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"/>
          <p:cNvSpPr txBox="1"/>
          <p:nvPr/>
        </p:nvSpPr>
        <p:spPr>
          <a:xfrm>
            <a:off x="7347435" y="1772826"/>
            <a:ext cx="412251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Autoavaliação (IAA) vs. Realidade Acadêmica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Dificuldade em se avaliar:</a:t>
            </a:r>
            <a:r>
              <a:rPr lang="pt-BR" sz="1200" dirty="0">
                <a:solidFill>
                  <a:schemeClr val="dk1"/>
                </a:solidFill>
              </a:rPr>
              <a:t> O aluno tem dificuldade em perceber seu real desempenho. A nota que ele dá para si mesmo quase não combina com a nota que ele tira de verdade.</a:t>
            </a:r>
          </a:p>
          <a:p>
            <a:pPr lvl="0"/>
            <a:endParaRPr lang="pt-BR" sz="1200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Sentimento vs. Esforço:</a:t>
            </a:r>
            <a:r>
              <a:rPr lang="pt-BR" sz="1200" dirty="0">
                <a:solidFill>
                  <a:schemeClr val="dk1"/>
                </a:solidFill>
              </a:rPr>
              <a:t> Estar animado ou se avaliar bem não significa que o aluno está participando mais das aulas. Muitos dos que se dão notas altas não são os que mais se dedicam na prática.</a:t>
            </a:r>
          </a:p>
          <a:p>
            <a:pPr lvl="0"/>
            <a:endParaRPr lang="pt-BR" sz="1200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Otimismo exagerado:</a:t>
            </a:r>
            <a:r>
              <a:rPr lang="pt-BR" sz="1200" dirty="0">
                <a:solidFill>
                  <a:schemeClr val="dk1"/>
                </a:solidFill>
              </a:rPr>
              <a:t> Mesmo quem tira notas baixas costuma se avaliar de forma positiva. No fim das contas, a nota que o aluno dá para si mesmo é parecida, esteja ele indo bem ou mal nos estudos.</a:t>
            </a:r>
          </a:p>
          <a:p>
            <a:pPr lvl="0"/>
            <a:endParaRPr lang="pt-BR" sz="1200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Conclusão:</a:t>
            </a:r>
            <a:r>
              <a:rPr lang="pt-BR" sz="1200" dirty="0">
                <a:solidFill>
                  <a:schemeClr val="dk1"/>
                </a:solidFill>
              </a:rPr>
              <a:t> A autoavaliação hoje mostra mais a confiança emocional do aluno do que o seu aprendizado real. Precisamos ensinar o aluno a entender melhor seus próprios pontos fortes e fracos.</a:t>
            </a:r>
            <a:endParaRPr dirty="0"/>
          </a:p>
        </p:txBody>
      </p:sp>
      <p:sp>
        <p:nvSpPr>
          <p:cNvPr id="2" name="Google Shape;253;p8">
            <a:extLst>
              <a:ext uri="{FF2B5EF4-FFF2-40B4-BE49-F238E27FC236}">
                <a16:creationId xmlns:a16="http://schemas.microsoft.com/office/drawing/2014/main" id="{A10FC357-DF72-4BCB-0350-72D9F0466563}"/>
              </a:ext>
            </a:extLst>
          </p:cNvPr>
          <p:cNvSpPr txBox="1"/>
          <p:nvPr/>
        </p:nvSpPr>
        <p:spPr>
          <a:xfrm>
            <a:off x="128187" y="147700"/>
            <a:ext cx="412251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pt-BR" sz="1200" dirty="0"/>
              <a:t>4. Autoavaliação (IAA): As percepções dos alunos sobre si mesmos (IAA) são coerentes com seu desempenho real (IDA) e engajamento (IEG)?</a:t>
            </a:r>
          </a:p>
        </p:txBody>
      </p:sp>
      <p:pic>
        <p:nvPicPr>
          <p:cNvPr id="3" name="Google Shape;99;p2">
            <a:extLst>
              <a:ext uri="{FF2B5EF4-FFF2-40B4-BE49-F238E27FC236}">
                <a16:creationId xmlns:a16="http://schemas.microsoft.com/office/drawing/2014/main" id="{B314E6B4-619E-2E5C-C78A-973B04A6165D}"/>
              </a:ext>
            </a:extLst>
          </p:cNvPr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198;p2">
            <a:extLst>
              <a:ext uri="{FF2B5EF4-FFF2-40B4-BE49-F238E27FC236}">
                <a16:creationId xmlns:a16="http://schemas.microsoft.com/office/drawing/2014/main" id="{03B5E58D-9DD6-BAE3-947D-6918505CD91F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5" name="Google Shape;199;p2">
              <a:extLst>
                <a:ext uri="{FF2B5EF4-FFF2-40B4-BE49-F238E27FC236}">
                  <a16:creationId xmlns:a16="http://schemas.microsoft.com/office/drawing/2014/main" id="{BC5F23B2-E76E-33EA-339B-AAFF0218DD0D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" name="Google Shape;200;p2">
              <a:extLst>
                <a:ext uri="{FF2B5EF4-FFF2-40B4-BE49-F238E27FC236}">
                  <a16:creationId xmlns:a16="http://schemas.microsoft.com/office/drawing/2014/main" id="{DA656C47-E661-1510-F1AB-B91EA601F9A5}"/>
                </a:ext>
              </a:extLst>
            </p:cNvPr>
            <p:cNvCxnSpPr>
              <a:endCxn id="5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5D271744-A6B6-AC76-8A09-C6B15E5E1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>
            <a:extLst>
              <a:ext uri="{FF2B5EF4-FFF2-40B4-BE49-F238E27FC236}">
                <a16:creationId xmlns:a16="http://schemas.microsoft.com/office/drawing/2014/main" id="{7FFA9CF2-3B7B-2F06-444B-EA450C70871C}"/>
              </a:ext>
            </a:extLst>
          </p:cNvPr>
          <p:cNvSpPr txBox="1"/>
          <p:nvPr/>
        </p:nvSpPr>
        <p:spPr>
          <a:xfrm>
            <a:off x="7338889" y="1319899"/>
            <a:ext cx="4122515" cy="433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pt-BR" sz="1200" b="1" dirty="0">
                <a:solidFill>
                  <a:schemeClr val="dk1"/>
                </a:solidFill>
              </a:rPr>
              <a:t>Padrões Psicossociais (IPS) como Preditores</a:t>
            </a:r>
          </a:p>
          <a:p>
            <a:pPr lvl="0"/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Indicador de Alerta: </a:t>
            </a:r>
            <a:r>
              <a:rPr lang="pt-BR" sz="1200" dirty="0">
                <a:solidFill>
                  <a:schemeClr val="dk1"/>
                </a:solidFill>
              </a:rPr>
              <a:t>A análise sugere que o IPS não é o principal motor de crescimento, mas funciona como um indicador de estabilidade. Quedas acentuadas no IPS (convivência e comportamento) tendem a preceder o desengajamento (IEG).</a:t>
            </a:r>
          </a:p>
          <a:p>
            <a:pPr lvl="0"/>
            <a:endParaRPr lang="pt-BR" sz="1200" b="1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Antecedência de Queda: </a:t>
            </a:r>
            <a:r>
              <a:rPr lang="pt-BR" sz="1200" dirty="0">
                <a:solidFill>
                  <a:schemeClr val="dk1"/>
                </a:solidFill>
              </a:rPr>
              <a:t>No modelo temporal (LAG), embora o peso acadêmico (INDE) seja soberano, variações negativas no bem-estar psicossocial costumam aparecer um ciclo antes de uma queda perceptível no desempenho acadêmico (IDA).</a:t>
            </a:r>
          </a:p>
          <a:p>
            <a:pPr lvl="0"/>
            <a:endParaRPr lang="pt-BR" sz="1200" b="1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Fator de Proteção: </a:t>
            </a:r>
            <a:r>
              <a:rPr lang="pt-BR" sz="1200" dirty="0">
                <a:solidFill>
                  <a:schemeClr val="dk1"/>
                </a:solidFill>
              </a:rPr>
              <a:t>Alunos com IPS estável apresentam maior resiliência; mesmo diante de desafios acadêmicos, eles demoram mais a reduzir o engajamento. Já alunos com IPS instável são mais vulneráveis a abandonos de ciclo ou quedas bruscas de nota.</a:t>
            </a:r>
          </a:p>
          <a:p>
            <a:pPr lvl="0"/>
            <a:endParaRPr lang="pt-BR" sz="1200" b="1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Conclusão: </a:t>
            </a:r>
            <a:r>
              <a:rPr lang="pt-BR" sz="1200" dirty="0">
                <a:solidFill>
                  <a:schemeClr val="dk1"/>
                </a:solidFill>
              </a:rPr>
              <a:t>O IPS não "causa" a nota alta, mas o IPS baixo "anuncia" o risco de queda futura no engajamento e no desempenho.</a:t>
            </a:r>
            <a:endParaRPr dirty="0"/>
          </a:p>
        </p:txBody>
      </p:sp>
      <p:sp>
        <p:nvSpPr>
          <p:cNvPr id="2" name="Google Shape;253;p8">
            <a:extLst>
              <a:ext uri="{FF2B5EF4-FFF2-40B4-BE49-F238E27FC236}">
                <a16:creationId xmlns:a16="http://schemas.microsoft.com/office/drawing/2014/main" id="{C9880B4A-9179-28EA-1C65-BDF2271C380A}"/>
              </a:ext>
            </a:extLst>
          </p:cNvPr>
          <p:cNvSpPr txBox="1"/>
          <p:nvPr/>
        </p:nvSpPr>
        <p:spPr>
          <a:xfrm>
            <a:off x="128187" y="147700"/>
            <a:ext cx="4122515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pt-BR" sz="1200" dirty="0"/>
              <a:t>5. </a:t>
            </a:r>
            <a:r>
              <a:rPr lang="pt-BR" dirty="0"/>
              <a:t>Aspectos psicossociais (IPS): Há padrões psicossociais (IPS) que antecedem quedas de desempenho acadêmico ou de engajamento?</a:t>
            </a:r>
          </a:p>
        </p:txBody>
      </p:sp>
      <p:pic>
        <p:nvPicPr>
          <p:cNvPr id="3" name="Google Shape;99;p2">
            <a:extLst>
              <a:ext uri="{FF2B5EF4-FFF2-40B4-BE49-F238E27FC236}">
                <a16:creationId xmlns:a16="http://schemas.microsoft.com/office/drawing/2014/main" id="{677703AB-2F31-6217-276C-05F62873430C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198;p2">
            <a:extLst>
              <a:ext uri="{FF2B5EF4-FFF2-40B4-BE49-F238E27FC236}">
                <a16:creationId xmlns:a16="http://schemas.microsoft.com/office/drawing/2014/main" id="{D6BA0BFE-F004-075D-1CD3-DD51C4E22EFC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5" name="Google Shape;199;p2">
              <a:extLst>
                <a:ext uri="{FF2B5EF4-FFF2-40B4-BE49-F238E27FC236}">
                  <a16:creationId xmlns:a16="http://schemas.microsoft.com/office/drawing/2014/main" id="{7705F0BF-6819-8413-8B44-3A22631839C3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" name="Google Shape;200;p2">
              <a:extLst>
                <a:ext uri="{FF2B5EF4-FFF2-40B4-BE49-F238E27FC236}">
                  <a16:creationId xmlns:a16="http://schemas.microsoft.com/office/drawing/2014/main" id="{D2DB8FE6-3C84-9D6D-08EA-7F07A9BC3BEF}"/>
                </a:ext>
              </a:extLst>
            </p:cNvPr>
            <p:cNvCxnSpPr>
              <a:endCxn id="5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3076" name="Picture 4">
            <a:extLst>
              <a:ext uri="{FF2B5EF4-FFF2-40B4-BE49-F238E27FC236}">
                <a16:creationId xmlns:a16="http://schemas.microsoft.com/office/drawing/2014/main" id="{A765328C-0641-0880-E30A-27B95BB4C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5" y="1897169"/>
            <a:ext cx="6917819" cy="390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2561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6C500996-E956-B455-10BC-400561A6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>
            <a:extLst>
              <a:ext uri="{FF2B5EF4-FFF2-40B4-BE49-F238E27FC236}">
                <a16:creationId xmlns:a16="http://schemas.microsoft.com/office/drawing/2014/main" id="{60E5D330-3C96-220F-96E7-6994DDC77355}"/>
              </a:ext>
            </a:extLst>
          </p:cNvPr>
          <p:cNvSpPr txBox="1"/>
          <p:nvPr/>
        </p:nvSpPr>
        <p:spPr>
          <a:xfrm>
            <a:off x="7407256" y="1012250"/>
            <a:ext cx="4122515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pt-BR" sz="1200" b="1" dirty="0">
                <a:solidFill>
                  <a:schemeClr val="dk1"/>
                </a:solidFill>
              </a:rPr>
              <a:t>Aspectos Psicopedagógicos (IPP) vs. Defasagem (IAN)</a:t>
            </a:r>
          </a:p>
          <a:p>
            <a:pPr lvl="0"/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Confirmação Técnica: </a:t>
            </a:r>
            <a:r>
              <a:rPr lang="pt-BR" sz="1200" dirty="0">
                <a:solidFill>
                  <a:schemeClr val="dk1"/>
                </a:solidFill>
              </a:rPr>
              <a:t>Os dados indicam uma convergência. Alunos identificados com defasagem severa pelo IAN (-2 ou -3 anos) também apresentam pontuações de IPP mais baixas. Isso mostra que a dificuldade escolar não é apenas burocrática, mas reflete desafios de aprendizagem reais diagnosticados.</a:t>
            </a:r>
          </a:p>
          <a:p>
            <a:pPr lvl="0"/>
            <a:endParaRPr lang="pt-BR" sz="1200" b="1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Identificação de Barreiras: </a:t>
            </a:r>
            <a:r>
              <a:rPr lang="pt-BR" sz="1200" dirty="0">
                <a:solidFill>
                  <a:schemeClr val="dk1"/>
                </a:solidFill>
              </a:rPr>
              <a:t>O IPP atua como a "prova real". Quando o IAN aponta atraso, o IPP geralmente confirma lacunas em funções cognitivas ou pedagógicas que impedem o aluno de avançar para o nível ideal.</a:t>
            </a:r>
          </a:p>
          <a:p>
            <a:pPr lvl="0"/>
            <a:endParaRPr lang="pt-BR" sz="1200" b="1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O Ponto de Contradição: </a:t>
            </a:r>
            <a:r>
              <a:rPr lang="pt-BR" sz="1200" dirty="0">
                <a:solidFill>
                  <a:schemeClr val="dk1"/>
                </a:solidFill>
              </a:rPr>
              <a:t>Casos raros onde o IPP é alto mas o IAN mostra defasagem sugerem fatores externos (como falta de acesso anterior à escola ou questões sociais) e não uma dificuldade de aprendizado do aluno em si.</a:t>
            </a:r>
          </a:p>
          <a:p>
            <a:pPr lvl="0"/>
            <a:endParaRPr lang="pt-BR" sz="1200" b="1" dirty="0">
              <a:solidFill>
                <a:schemeClr val="dk1"/>
              </a:solidFill>
            </a:endParaRPr>
          </a:p>
          <a:p>
            <a:pPr lvl="0"/>
            <a:r>
              <a:rPr lang="pt-BR" sz="1200" b="1" dirty="0">
                <a:solidFill>
                  <a:schemeClr val="dk1"/>
                </a:solidFill>
              </a:rPr>
              <a:t>Conclusão: </a:t>
            </a:r>
            <a:r>
              <a:rPr lang="pt-BR" sz="1200" dirty="0">
                <a:solidFill>
                  <a:schemeClr val="dk1"/>
                </a:solidFill>
              </a:rPr>
              <a:t>As avaliações confirmam a defasagem. O IAN diz "onde" o aluno está, e o IPP explica "por que" ele ainda não avançou, validando a necessidade de intervenções específicas para cada fase.</a:t>
            </a:r>
            <a:endParaRPr dirty="0"/>
          </a:p>
        </p:txBody>
      </p:sp>
      <p:sp>
        <p:nvSpPr>
          <p:cNvPr id="2" name="Google Shape;253;p8">
            <a:extLst>
              <a:ext uri="{FF2B5EF4-FFF2-40B4-BE49-F238E27FC236}">
                <a16:creationId xmlns:a16="http://schemas.microsoft.com/office/drawing/2014/main" id="{1AC6E18D-6392-3180-0656-DC5183534CDE}"/>
              </a:ext>
            </a:extLst>
          </p:cNvPr>
          <p:cNvSpPr txBox="1"/>
          <p:nvPr/>
        </p:nvSpPr>
        <p:spPr>
          <a:xfrm>
            <a:off x="128187" y="147700"/>
            <a:ext cx="4122515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pt-BR" sz="1200" dirty="0"/>
              <a:t>6. </a:t>
            </a:r>
            <a:r>
              <a:rPr lang="pt-BR" dirty="0"/>
              <a:t>Aspectos psicopedagógicos (IPP): As avaliações psicopedagógicas (IPP) confirmam ou contradizem a defasagem identificada pelo IAN?</a:t>
            </a:r>
          </a:p>
        </p:txBody>
      </p:sp>
      <p:pic>
        <p:nvPicPr>
          <p:cNvPr id="3" name="Google Shape;99;p2">
            <a:extLst>
              <a:ext uri="{FF2B5EF4-FFF2-40B4-BE49-F238E27FC236}">
                <a16:creationId xmlns:a16="http://schemas.microsoft.com/office/drawing/2014/main" id="{E31129A1-7D36-786C-7F96-C156B935A347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198;p2">
            <a:extLst>
              <a:ext uri="{FF2B5EF4-FFF2-40B4-BE49-F238E27FC236}">
                <a16:creationId xmlns:a16="http://schemas.microsoft.com/office/drawing/2014/main" id="{821A61AC-DA9B-072E-3F53-37D6E4F295FD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5" name="Google Shape;199;p2">
              <a:extLst>
                <a:ext uri="{FF2B5EF4-FFF2-40B4-BE49-F238E27FC236}">
                  <a16:creationId xmlns:a16="http://schemas.microsoft.com/office/drawing/2014/main" id="{5C2C7BF0-4AFB-2F3C-0302-CA3AE9DCD3B7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" name="Google Shape;200;p2">
              <a:extLst>
                <a:ext uri="{FF2B5EF4-FFF2-40B4-BE49-F238E27FC236}">
                  <a16:creationId xmlns:a16="http://schemas.microsoft.com/office/drawing/2014/main" id="{8025763B-70BF-A9FC-2B69-15113A2E98BD}"/>
                </a:ext>
              </a:extLst>
            </p:cNvPr>
            <p:cNvCxnSpPr>
              <a:endCxn id="5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4100" name="Picture 4">
            <a:extLst>
              <a:ext uri="{FF2B5EF4-FFF2-40B4-BE49-F238E27FC236}">
                <a16:creationId xmlns:a16="http://schemas.microsoft.com/office/drawing/2014/main" id="{CC8C7D28-3960-F855-6FFC-CDBDA57B6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26" y="1198286"/>
            <a:ext cx="6950248" cy="534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904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180" y="115491"/>
            <a:ext cx="5183337" cy="3089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181" y="3257550"/>
            <a:ext cx="5183336" cy="3089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9;p2">
            <a:extLst>
              <a:ext uri="{FF2B5EF4-FFF2-40B4-BE49-F238E27FC236}">
                <a16:creationId xmlns:a16="http://schemas.microsoft.com/office/drawing/2014/main" id="{D0AC716E-DA33-A0F9-2334-357F1981D4E8}"/>
              </a:ext>
            </a:extLst>
          </p:cNvPr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198;p2">
            <a:extLst>
              <a:ext uri="{FF2B5EF4-FFF2-40B4-BE49-F238E27FC236}">
                <a16:creationId xmlns:a16="http://schemas.microsoft.com/office/drawing/2014/main" id="{FEE4F103-647A-3416-9332-B2C5456B3397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4" name="Google Shape;199;p2">
              <a:extLst>
                <a:ext uri="{FF2B5EF4-FFF2-40B4-BE49-F238E27FC236}">
                  <a16:creationId xmlns:a16="http://schemas.microsoft.com/office/drawing/2014/main" id="{4AAFD58F-3E9E-5FA0-3DE1-95D025DF7EB3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" name="Google Shape;200;p2">
              <a:extLst>
                <a:ext uri="{FF2B5EF4-FFF2-40B4-BE49-F238E27FC236}">
                  <a16:creationId xmlns:a16="http://schemas.microsoft.com/office/drawing/2014/main" id="{B05DB6C5-9867-C319-A622-62E3EA63643E}"/>
                </a:ext>
              </a:extLst>
            </p:cNvPr>
            <p:cNvCxnSpPr>
              <a:endCxn id="4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" name="Google Shape;253;p8">
            <a:extLst>
              <a:ext uri="{FF2B5EF4-FFF2-40B4-BE49-F238E27FC236}">
                <a16:creationId xmlns:a16="http://schemas.microsoft.com/office/drawing/2014/main" id="{E8E9B96A-FC68-D531-CDF1-B268F9655B24}"/>
              </a:ext>
            </a:extLst>
          </p:cNvPr>
          <p:cNvSpPr txBox="1"/>
          <p:nvPr/>
        </p:nvSpPr>
        <p:spPr>
          <a:xfrm>
            <a:off x="6492855" y="1418229"/>
            <a:ext cx="4122515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pt-BR" b="1" dirty="0"/>
              <a:t>O que move o Ponto de Virada (IPV) ?</a:t>
            </a:r>
          </a:p>
          <a:p>
            <a:pPr lvl="0"/>
            <a:endParaRPr lang="pt-BR" dirty="0"/>
          </a:p>
          <a:p>
            <a:pPr lvl="0"/>
            <a:r>
              <a:rPr lang="pt-BR" b="1" dirty="0"/>
              <a:t>O Peso do Acadêmico:</a:t>
            </a:r>
            <a:r>
              <a:rPr lang="pt-BR" dirty="0"/>
              <a:t> O INDE é o principal motor do sucesso. O desempenho do ano passado é o que melhor prevê o crescimento do aluno no ano seguinte.</a:t>
            </a:r>
          </a:p>
          <a:p>
            <a:pPr lvl="0"/>
            <a:endParaRPr lang="pt-BR" dirty="0"/>
          </a:p>
          <a:p>
            <a:pPr lvl="0"/>
            <a:r>
              <a:rPr lang="pt-BR" b="1" dirty="0"/>
              <a:t>A Força da Evolução:</a:t>
            </a:r>
            <a:r>
              <a:rPr lang="pt-BR" dirty="0"/>
              <a:t> Quando o aluno melhora seu INDE (Δ), o IPV sobe quase que automaticamente, sendo impulsionado também pelo maior engajamento (IEG).</a:t>
            </a:r>
          </a:p>
          <a:p>
            <a:pPr lvl="0"/>
            <a:endParaRPr lang="pt-BR" dirty="0"/>
          </a:p>
          <a:p>
            <a:pPr lvl="0"/>
            <a:r>
              <a:rPr lang="pt-BR" b="1" dirty="0"/>
              <a:t>Fator de Elite:</a:t>
            </a:r>
            <a:r>
              <a:rPr lang="pt-BR" dirty="0"/>
              <a:t> Alunos com as maiores notas (Top 25%) têm um Ponto de Virada significativamente mais alto, confirmando que a base acadêmica sólida é o que sustenta a evolução.</a:t>
            </a:r>
            <a:endParaRPr dirty="0"/>
          </a:p>
        </p:txBody>
      </p:sp>
      <p:sp>
        <p:nvSpPr>
          <p:cNvPr id="7" name="Google Shape;253;p8">
            <a:extLst>
              <a:ext uri="{FF2B5EF4-FFF2-40B4-BE49-F238E27FC236}">
                <a16:creationId xmlns:a16="http://schemas.microsoft.com/office/drawing/2014/main" id="{882FA24F-BE32-DC0E-0D60-3615210F92E1}"/>
              </a:ext>
            </a:extLst>
          </p:cNvPr>
          <p:cNvSpPr txBox="1"/>
          <p:nvPr/>
        </p:nvSpPr>
        <p:spPr>
          <a:xfrm>
            <a:off x="6440157" y="157622"/>
            <a:ext cx="4122515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pt-BR" dirty="0"/>
              <a:t>Pergunta 7 - Ponto de virada (IPV): Quais comportamentos - acadêmicos, emocionais ou de engajamento - mais influenciam o IPV ao longo do tempo?</a:t>
            </a:r>
          </a:p>
          <a:p>
            <a:pPr lvl="0"/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12" descr="Gráfico, Gráfico de barras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69620"/>
            <a:ext cx="6801020" cy="451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2"/>
          <p:cNvSpPr txBox="1"/>
          <p:nvPr/>
        </p:nvSpPr>
        <p:spPr>
          <a:xfrm>
            <a:off x="7019361" y="1169620"/>
            <a:ext cx="4602332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pt-BR" b="1" dirty="0">
                <a:solidFill>
                  <a:schemeClr val="dk1"/>
                </a:solidFill>
              </a:rPr>
              <a:t>O que realmente eleva o INDE?</a:t>
            </a:r>
          </a:p>
          <a:p>
            <a:pPr lvl="0"/>
            <a:endParaRPr lang="pt-BR" b="1" dirty="0">
              <a:solidFill>
                <a:schemeClr val="dk1"/>
              </a:solidFill>
            </a:endParaRPr>
          </a:p>
          <a:p>
            <a:pPr lvl="0"/>
            <a:r>
              <a:rPr lang="pt-BR" b="1" dirty="0">
                <a:solidFill>
                  <a:schemeClr val="dk1"/>
                </a:solidFill>
              </a:rPr>
              <a:t>A Dupla Dinâmica: IDA + IEG</a:t>
            </a:r>
          </a:p>
          <a:p>
            <a:pPr lvl="0"/>
            <a:endParaRPr lang="pt-BR" dirty="0">
              <a:solidFill>
                <a:schemeClr val="dk1"/>
              </a:solidFill>
            </a:endParaRPr>
          </a:p>
          <a:p>
            <a:pPr lvl="0"/>
            <a:r>
              <a:rPr lang="pt-BR" b="1" dirty="0">
                <a:solidFill>
                  <a:schemeClr val="dk1"/>
                </a:solidFill>
              </a:rPr>
              <a:t>Impacto:</a:t>
            </a:r>
            <a:r>
              <a:rPr lang="pt-BR" dirty="0">
                <a:solidFill>
                  <a:schemeClr val="dk1"/>
                </a:solidFill>
              </a:rPr>
              <a:t> Responsáveis por 71,8% da nota global.</a:t>
            </a:r>
          </a:p>
          <a:p>
            <a:pPr lvl="0"/>
            <a:endParaRPr lang="pt-BR" dirty="0">
              <a:solidFill>
                <a:schemeClr val="dk1"/>
              </a:solidFill>
            </a:endParaRPr>
          </a:p>
          <a:p>
            <a:pPr lvl="0"/>
            <a:r>
              <a:rPr lang="pt-BR" b="1" dirty="0">
                <a:solidFill>
                  <a:schemeClr val="dk1"/>
                </a:solidFill>
              </a:rPr>
              <a:t>Significado:</a:t>
            </a:r>
            <a:r>
              <a:rPr lang="pt-BR" dirty="0">
                <a:solidFill>
                  <a:schemeClr val="dk1"/>
                </a:solidFill>
              </a:rPr>
              <a:t> O sucesso é movido pela combinação entre Resultado Acadêmico e Intensidade de Engajamento.</a:t>
            </a:r>
          </a:p>
          <a:p>
            <a:pPr lvl="0"/>
            <a:endParaRPr lang="pt-BR" dirty="0">
              <a:solidFill>
                <a:schemeClr val="dk1"/>
              </a:solidFill>
            </a:endParaRPr>
          </a:p>
          <a:p>
            <a:pPr lvl="0"/>
            <a:r>
              <a:rPr lang="pt-BR" b="1" dirty="0">
                <a:solidFill>
                  <a:schemeClr val="dk1"/>
                </a:solidFill>
              </a:rPr>
              <a:t>O Modelo Completo (Todos os indicadores):</a:t>
            </a:r>
          </a:p>
          <a:p>
            <a:pPr lvl="0"/>
            <a:endParaRPr lang="pt-BR" dirty="0">
              <a:solidFill>
                <a:schemeClr val="dk1"/>
              </a:solidFill>
            </a:endParaRPr>
          </a:p>
          <a:p>
            <a:pPr lvl="0"/>
            <a:r>
              <a:rPr lang="pt-BR" b="1" dirty="0">
                <a:solidFill>
                  <a:schemeClr val="dk1"/>
                </a:solidFill>
              </a:rPr>
              <a:t>Impacto:</a:t>
            </a:r>
            <a:r>
              <a:rPr lang="pt-BR" dirty="0">
                <a:solidFill>
                  <a:schemeClr val="dk1"/>
                </a:solidFill>
              </a:rPr>
              <a:t> Sobe para 81,4%.</a:t>
            </a:r>
          </a:p>
          <a:p>
            <a:pPr lvl="0"/>
            <a:endParaRPr lang="pt-BR" dirty="0">
              <a:solidFill>
                <a:schemeClr val="dk1"/>
              </a:solidFill>
            </a:endParaRPr>
          </a:p>
          <a:p>
            <a:pPr lvl="0"/>
            <a:r>
              <a:rPr lang="pt-BR" b="1" dirty="0">
                <a:solidFill>
                  <a:schemeClr val="dk1"/>
                </a:solidFill>
              </a:rPr>
              <a:t>Insight:</a:t>
            </a:r>
            <a:r>
              <a:rPr lang="pt-BR" dirty="0">
                <a:solidFill>
                  <a:schemeClr val="dk1"/>
                </a:solidFill>
              </a:rPr>
              <a:t> As dimensões sociais e psicossociais servem como um "ajuste fino", mas o sucesso acadêmico e o engajamento são os pilares que sustentam a evolução do aluno.</a:t>
            </a:r>
            <a:endParaRPr sz="1100" dirty="0"/>
          </a:p>
        </p:txBody>
      </p:sp>
      <p:pic>
        <p:nvPicPr>
          <p:cNvPr id="2" name="Google Shape;99;p2">
            <a:extLst>
              <a:ext uri="{FF2B5EF4-FFF2-40B4-BE49-F238E27FC236}">
                <a16:creationId xmlns:a16="http://schemas.microsoft.com/office/drawing/2014/main" id="{24BEDE7A-16B5-B896-1975-48EB79220F40}"/>
              </a:ext>
            </a:extLst>
          </p:cNvPr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198;p2">
            <a:extLst>
              <a:ext uri="{FF2B5EF4-FFF2-40B4-BE49-F238E27FC236}">
                <a16:creationId xmlns:a16="http://schemas.microsoft.com/office/drawing/2014/main" id="{6E747FED-D640-3E50-5E76-5FF2EB05A8F3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4" name="Google Shape;199;p2">
              <a:extLst>
                <a:ext uri="{FF2B5EF4-FFF2-40B4-BE49-F238E27FC236}">
                  <a16:creationId xmlns:a16="http://schemas.microsoft.com/office/drawing/2014/main" id="{82A4F900-13FA-6C76-B521-4C75F454B584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" name="Google Shape;200;p2">
              <a:extLst>
                <a:ext uri="{FF2B5EF4-FFF2-40B4-BE49-F238E27FC236}">
                  <a16:creationId xmlns:a16="http://schemas.microsoft.com/office/drawing/2014/main" id="{F6FC4379-9E5D-FD54-151C-4FD7B871425C}"/>
                </a:ext>
              </a:extLst>
            </p:cNvPr>
            <p:cNvCxnSpPr>
              <a:endCxn id="4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" name="Google Shape;287;p12">
            <a:extLst>
              <a:ext uri="{FF2B5EF4-FFF2-40B4-BE49-F238E27FC236}">
                <a16:creationId xmlns:a16="http://schemas.microsoft.com/office/drawing/2014/main" id="{C2E5B0B3-416A-8699-B983-58E9F328FF7B}"/>
              </a:ext>
            </a:extLst>
          </p:cNvPr>
          <p:cNvSpPr txBox="1"/>
          <p:nvPr/>
        </p:nvSpPr>
        <p:spPr>
          <a:xfrm>
            <a:off x="58388" y="107033"/>
            <a:ext cx="4602332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pt-BR" dirty="0"/>
              <a:t>8.⁠ ⁠Multidimensionalidade dos indicadores: Quais combinações de indicadores (IDA + IEG + IPS + IPP) elevam mais a nota global do aluno (INDE)?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6" y="1061100"/>
            <a:ext cx="4981874" cy="2468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72908" y="3719545"/>
            <a:ext cx="5440661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388" y="3848665"/>
            <a:ext cx="5346667" cy="264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9;p2">
            <a:extLst>
              <a:ext uri="{FF2B5EF4-FFF2-40B4-BE49-F238E27FC236}">
                <a16:creationId xmlns:a16="http://schemas.microsoft.com/office/drawing/2014/main" id="{91FDEF96-EE9B-4E14-0649-CAFEC9A5ED38}"/>
              </a:ext>
            </a:extLst>
          </p:cNvPr>
          <p:cNvPicPr preferRelativeResize="0"/>
          <p:nvPr/>
        </p:nvPicPr>
        <p:blipFill rotWithShape="1">
          <a:blip r:embed="rId6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198;p2">
            <a:extLst>
              <a:ext uri="{FF2B5EF4-FFF2-40B4-BE49-F238E27FC236}">
                <a16:creationId xmlns:a16="http://schemas.microsoft.com/office/drawing/2014/main" id="{23EF1706-74DD-C7BC-902F-D7A5E4CCCE15}"/>
              </a:ext>
            </a:extLst>
          </p:cNvPr>
          <p:cNvGrpSpPr/>
          <p:nvPr/>
        </p:nvGrpSpPr>
        <p:grpSpPr>
          <a:xfrm rot="10800000">
            <a:off x="7937499" y="6543679"/>
            <a:ext cx="3116723" cy="165101"/>
            <a:chOff x="-1015999" y="317351"/>
            <a:chExt cx="3116723" cy="165101"/>
          </a:xfrm>
        </p:grpSpPr>
        <p:sp>
          <p:nvSpPr>
            <p:cNvPr id="4" name="Google Shape;199;p2">
              <a:extLst>
                <a:ext uri="{FF2B5EF4-FFF2-40B4-BE49-F238E27FC236}">
                  <a16:creationId xmlns:a16="http://schemas.microsoft.com/office/drawing/2014/main" id="{16C033D5-3354-0FD0-84DF-F05E2AE2C30D}"/>
                </a:ext>
              </a:extLst>
            </p:cNvPr>
            <p:cNvSpPr/>
            <p:nvPr/>
          </p:nvSpPr>
          <p:spPr>
            <a:xfrm>
              <a:off x="1727201" y="317351"/>
              <a:ext cx="373523" cy="165101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905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" name="Google Shape;200;p2">
              <a:extLst>
                <a:ext uri="{FF2B5EF4-FFF2-40B4-BE49-F238E27FC236}">
                  <a16:creationId xmlns:a16="http://schemas.microsoft.com/office/drawing/2014/main" id="{3BF4C00B-A233-5401-578D-5BA556F5F767}"/>
                </a:ext>
              </a:extLst>
            </p:cNvPr>
            <p:cNvCxnSpPr>
              <a:endCxn id="4" idx="1"/>
            </p:cNvCxnSpPr>
            <p:nvPr/>
          </p:nvCxnSpPr>
          <p:spPr>
            <a:xfrm>
              <a:off x="-1015999" y="399902"/>
              <a:ext cx="2743200" cy="0"/>
            </a:xfrm>
            <a:prstGeom prst="straightConnector1">
              <a:avLst/>
            </a:prstGeom>
            <a:noFill/>
            <a:ln w="571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" name="Google Shape;287;p12">
            <a:extLst>
              <a:ext uri="{FF2B5EF4-FFF2-40B4-BE49-F238E27FC236}">
                <a16:creationId xmlns:a16="http://schemas.microsoft.com/office/drawing/2014/main" id="{ECAC76BD-C343-428F-0235-87C78F20890F}"/>
              </a:ext>
            </a:extLst>
          </p:cNvPr>
          <p:cNvSpPr txBox="1"/>
          <p:nvPr/>
        </p:nvSpPr>
        <p:spPr>
          <a:xfrm>
            <a:off x="58388" y="107033"/>
            <a:ext cx="641275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pt-BR" dirty="0"/>
              <a:t>10. Efetividade do programa: Os indicadores mostram melhora consistente ao longo do ciclo nas diferentes fases (Quartzo, Ágata, Ametista e Topázio), confirmando o impacto real do programa?</a:t>
            </a:r>
          </a:p>
        </p:txBody>
      </p:sp>
      <p:sp>
        <p:nvSpPr>
          <p:cNvPr id="7" name="Google Shape;287;p12">
            <a:extLst>
              <a:ext uri="{FF2B5EF4-FFF2-40B4-BE49-F238E27FC236}">
                <a16:creationId xmlns:a16="http://schemas.microsoft.com/office/drawing/2014/main" id="{71C02599-402C-B563-2BF3-ECB58DE5D1B8}"/>
              </a:ext>
            </a:extLst>
          </p:cNvPr>
          <p:cNvSpPr txBox="1"/>
          <p:nvPr/>
        </p:nvSpPr>
        <p:spPr>
          <a:xfrm>
            <a:off x="5748505" y="842608"/>
            <a:ext cx="6345079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pt-BR" b="1" dirty="0"/>
              <a:t>Desempenho por Fases:</a:t>
            </a:r>
            <a:r>
              <a:rPr lang="pt-BR" dirty="0"/>
              <a:t> Alerta de Sustentabilidade</a:t>
            </a:r>
          </a:p>
          <a:p>
            <a:pPr lvl="0">
              <a:buClr>
                <a:schemeClr val="dk1"/>
              </a:buClr>
              <a:buSzPts val="1200"/>
            </a:pPr>
            <a:endParaRPr lang="pt-BR" dirty="0"/>
          </a:p>
          <a:p>
            <a:pPr lvl="0">
              <a:buClr>
                <a:schemeClr val="dk1"/>
              </a:buClr>
              <a:buSzPts val="1200"/>
            </a:pPr>
            <a:r>
              <a:rPr lang="pt-BR" b="1" dirty="0"/>
              <a:t>2022 → 2023:</a:t>
            </a:r>
            <a:r>
              <a:rPr lang="pt-BR" dirty="0"/>
              <a:t> Crescimento generalizado (Impacto inicial positivo).</a:t>
            </a:r>
          </a:p>
          <a:p>
            <a:pPr lvl="0">
              <a:buClr>
                <a:schemeClr val="dk1"/>
              </a:buClr>
              <a:buSzPts val="1200"/>
            </a:pPr>
            <a:endParaRPr lang="pt-BR" dirty="0"/>
          </a:p>
          <a:p>
            <a:pPr lvl="0">
              <a:buClr>
                <a:schemeClr val="dk1"/>
              </a:buClr>
              <a:buSzPts val="1200"/>
            </a:pPr>
            <a:r>
              <a:rPr lang="pt-BR" b="1" dirty="0"/>
              <a:t>2023 → 2024:</a:t>
            </a:r>
            <a:r>
              <a:rPr lang="pt-BR" dirty="0"/>
              <a:t> Queda em todas as fases (Platô de desempenho).</a:t>
            </a:r>
          </a:p>
          <a:p>
            <a:pPr lvl="0">
              <a:buClr>
                <a:schemeClr val="dk1"/>
              </a:buClr>
              <a:buSzPts val="1200"/>
            </a:pPr>
            <a:endParaRPr lang="pt-BR" dirty="0"/>
          </a:p>
          <a:p>
            <a:pPr lvl="0">
              <a:buClr>
                <a:schemeClr val="dk1"/>
              </a:buClr>
              <a:buSzPts val="1200"/>
            </a:pPr>
            <a:r>
              <a:rPr lang="pt-BR" b="1" dirty="0"/>
              <a:t>Saldo 2024 </a:t>
            </a:r>
            <a:r>
              <a:rPr lang="pt-BR" b="1" dirty="0" err="1"/>
              <a:t>vs</a:t>
            </a:r>
            <a:r>
              <a:rPr lang="pt-BR" b="1" dirty="0"/>
              <a:t> 2022:</a:t>
            </a:r>
            <a:r>
              <a:rPr lang="pt-BR" dirty="0"/>
              <a:t> Apenas Quartzo (+); Ágata, Ametista e Topázio (</a:t>
            </a:r>
            <a:r>
              <a:rPr lang="pt-BR" dirty="0" err="1"/>
              <a:t>stagnado</a:t>
            </a:r>
            <a:r>
              <a:rPr lang="pt-BR" dirty="0"/>
              <a:t>/-).</a:t>
            </a:r>
          </a:p>
          <a:p>
            <a:pPr lvl="0">
              <a:buClr>
                <a:schemeClr val="dk1"/>
              </a:buClr>
              <a:buSzPts val="1200"/>
            </a:pPr>
            <a:endParaRPr lang="pt-BR" dirty="0"/>
          </a:p>
          <a:p>
            <a:pPr lvl="0">
              <a:buClr>
                <a:schemeClr val="dk1"/>
              </a:buClr>
              <a:buSzPts val="1200"/>
            </a:pPr>
            <a:r>
              <a:rPr lang="pt-BR" b="1" dirty="0"/>
              <a:t>Diagnóstico:</a:t>
            </a:r>
            <a:r>
              <a:rPr lang="pt-BR" dirty="0"/>
              <a:t> O impacto atual é cíclico e não contínuo. É necessário revisar as estratégias de retenção de aprendizado para os ciclos mais avançados.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15" descr="Pessoas sentadas ao redor de uma mesa&#10;&#10;O conteúdo gerado por IA pode estar incorreto.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>
            <a:off x="-674914" y="-239486"/>
            <a:ext cx="12866914" cy="8577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5" descr="Pessoas sentadas ao redor de uma mesa&#10;&#10;O conteúdo gerado por IA pode estar incorreto.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-674914" y="-239486"/>
            <a:ext cx="12866914" cy="857794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5"/>
          <p:cNvSpPr/>
          <p:nvPr/>
        </p:nvSpPr>
        <p:spPr>
          <a:xfrm>
            <a:off x="-674914" y="-239486"/>
            <a:ext cx="12866914" cy="8577942"/>
          </a:xfrm>
          <a:prstGeom prst="rect">
            <a:avLst/>
          </a:prstGeom>
          <a:solidFill>
            <a:srgbClr val="000000">
              <a:alpha val="8784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-1058637" y="946309"/>
            <a:ext cx="1363435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/>
          </a:p>
        </p:txBody>
      </p:sp>
      <p:sp>
        <p:nvSpPr>
          <p:cNvPr id="317" name="Google Shape;317;p15"/>
          <p:cNvSpPr txBox="1"/>
          <p:nvPr/>
        </p:nvSpPr>
        <p:spPr>
          <a:xfrm>
            <a:off x="1523993" y="3733801"/>
            <a:ext cx="846909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BRYAN TIETE TANOUE– RM362429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GUSTAVO BASTOS DOS SANTOS – RM361755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LUIS FERNANDO ALVES DE SANTANA – RM361489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PEDRO HENRIQUE BARADEL OLIVEIRA DOS SANTOS – RM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VITOR JACOB BOMURA – RM362429</a:t>
            </a:r>
            <a:endParaRPr/>
          </a:p>
        </p:txBody>
      </p:sp>
      <p:pic>
        <p:nvPicPr>
          <p:cNvPr id="318" name="Google Shape;318;p15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11178387" y="6497671"/>
            <a:ext cx="886613" cy="257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1654</Words>
  <Application>Microsoft Office PowerPoint</Application>
  <PresentationFormat>Widescreen</PresentationFormat>
  <Paragraphs>120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Play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Pedro Baradel</dc:creator>
  <cp:lastModifiedBy>Pedro Baradel</cp:lastModifiedBy>
  <cp:revision>26</cp:revision>
  <dcterms:created xsi:type="dcterms:W3CDTF">2026-02-17T15:33:37Z</dcterms:created>
  <dcterms:modified xsi:type="dcterms:W3CDTF">2026-02-23T23:51:43Z</dcterms:modified>
</cp:coreProperties>
</file>